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74320"/>
            <a:ext cx="54864" cy="5486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8302752" y="384048"/>
            <a:ext cx="54864" cy="5486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8193024" y="493776"/>
            <a:ext cx="54864" cy="5486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5" name="Shape 3"/>
          <p:cNvSpPr/>
          <p:nvPr/>
        </p:nvSpPr>
        <p:spPr>
          <a:xfrm>
            <a:off x="8083296" y="603504"/>
            <a:ext cx="54864" cy="5486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" name="Shape 4"/>
          <p:cNvSpPr/>
          <p:nvPr/>
        </p:nvSpPr>
        <p:spPr>
          <a:xfrm>
            <a:off x="7973568" y="713232"/>
            <a:ext cx="54864" cy="5486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0" y="822960"/>
            <a:ext cx="54864" cy="54864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011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TE3002B · MOBILE ROBOTS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23317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Mini Challenge 2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548640" y="3063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6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 de lazo abierto robusto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48640" y="3566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Cuadrado de 50 cm  ·  Trayectoria por waypoints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4160520"/>
            <a:ext cx="45720" cy="45720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4160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 Cortés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F6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A01385387 · Abril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 QUE PIDIÓ EL PROFESOR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1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Cinco requisitos no-negociables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" cy="2743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411480" cy="4114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Lazo abierto puro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749040" y="15544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/pose, sin encoders, sin realimentación. Solo se manda información.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411480" cy="4114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Robustez real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49040" y="21488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robot debe tolerar perturbaciones, ruido y errores del modelo.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11480" cy="4114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Auto-tuneable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49040" y="27432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fija velocidad o tiempo; el controlador deriva el resto.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337560"/>
            <a:ext cx="411480" cy="4114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No-linealidades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49040" y="33375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Considerar deadzone (velocidades bajas) y saturación (altas).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411480" cy="4114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recomendada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749040" y="39319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por estados: STOP / FORWARD / TURN / FINISH.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617720"/>
            <a:ext cx="8229600" cy="45720"/>
          </a:xfrm>
          <a:prstGeom prst="rect">
            <a:avLst/>
          </a:prstGeom>
          <a:solidFill>
            <a:srgbClr val="D7D5CC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 Cortés · A01385387 · TE3002B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32104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ARQUITECTURA DEL NODO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1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Cómo se conecta todo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" cy="2743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920240"/>
            <a:ext cx="1554480" cy="128016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057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Intención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usuario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o 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94560" y="1920240"/>
            <a:ext cx="1554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0280" y="2057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Auto-tuner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4028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deriva comandos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31920" y="1920240"/>
            <a:ext cx="1554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77640" y="2057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generator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7764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 de acciones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0" y="1920240"/>
            <a:ext cx="1554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0" y="2057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+ timer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1500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ejecuta por tiempo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06640" y="1920240"/>
            <a:ext cx="1280160" cy="1280160"/>
          </a:xfrm>
          <a:prstGeom prst="rect">
            <a:avLst/>
          </a:prstGeom>
          <a:solidFill>
            <a:srgbClr val="0F1A3C"/>
          </a:solidFill>
          <a:ln/>
        </p:spPr>
      </p:sp>
      <p:sp>
        <p:nvSpPr>
          <p:cNvPr id="18" name="Text 16"/>
          <p:cNvSpPr/>
          <p:nvPr/>
        </p:nvSpPr>
        <p:spPr>
          <a:xfrm>
            <a:off x="7452360" y="20574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PuzzleBot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52360" y="2651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6F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Float32 × 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011680" y="2560320"/>
            <a:ext cx="1828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749040" y="2560320"/>
            <a:ext cx="1828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486400" y="2560320"/>
            <a:ext cx="1828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223760" y="2560320"/>
            <a:ext cx="1828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/VelocitySetL   /VelocitySetR   (std_msgs/msg/Float32)</a:t>
            </a:r>
            <a:endParaRPr lang="en-US" sz="11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794760"/>
            <a:ext cx="365760" cy="36576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914400" y="3794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feedback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14400" y="4069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subscribers a encoders, odom o pose.</a:t>
            </a:r>
            <a:endParaRPr lang="en-US" sz="100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3794760"/>
            <a:ext cx="365760" cy="36576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3749040" y="3794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clara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3749040" y="4069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se calcula una vez; FSM sólo ejecuta.</a:t>
            </a:r>
            <a:endParaRPr lang="en-US" sz="1000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3794760"/>
            <a:ext cx="365760" cy="36576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583680" y="3794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parametrizable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6583680" y="4069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k_lin, k_ang, velocidades y tiempos editables.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 Cortés · A01385387 · TE3002B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832104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NO-LINEALIDADES DEL ACTUADOR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1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Dónde puedo comandar el motor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" cy="2743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011680"/>
            <a:ext cx="768096" cy="731520"/>
          </a:xfrm>
          <a:prstGeom prst="rect">
            <a:avLst/>
          </a:prstGeom>
          <a:solidFill>
            <a:srgbClr val="E55A4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11680"/>
            <a:ext cx="768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DEADZONE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499616" y="2011680"/>
            <a:ext cx="6912864" cy="731520"/>
          </a:xfrm>
          <a:prstGeom prst="rect">
            <a:avLst/>
          </a:prstGeom>
          <a:solidFill>
            <a:srgbClr val="5EB47A"/>
          </a:solidFill>
          <a:ln/>
        </p:spPr>
      </p:sp>
      <p:sp>
        <p:nvSpPr>
          <p:cNvPr id="8" name="Text 6"/>
          <p:cNvSpPr/>
          <p:nvPr/>
        </p:nvSpPr>
        <p:spPr>
          <a:xfrm>
            <a:off x="1499616" y="2011680"/>
            <a:ext cx="6912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ZONA LINEAL  ·  aquí operamos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75320" y="2011680"/>
            <a:ext cx="137160" cy="73152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743200"/>
            <a:ext cx="0" cy="73152"/>
          </a:xfrm>
          <a:prstGeom prst="line">
            <a:avLst/>
          </a:prstGeom>
          <a:noFill/>
          <a:ln w="12700">
            <a:solidFill>
              <a:srgbClr val="1B21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99616" y="2743200"/>
            <a:ext cx="0" cy="73152"/>
          </a:xfrm>
          <a:prstGeom prst="line">
            <a:avLst/>
          </a:prstGeom>
          <a:noFill/>
          <a:ln w="12700">
            <a:solidFill>
              <a:srgbClr val="1B21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0" y="2743200"/>
            <a:ext cx="0" cy="73152"/>
          </a:xfrm>
          <a:prstGeom prst="line">
            <a:avLst/>
          </a:prstGeom>
          <a:noFill/>
          <a:ln w="12700">
            <a:solidFill>
              <a:srgbClr val="1B21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8529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42416" y="28529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955280" y="28529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3.00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154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|cmd|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 de comando de rueda  (Float32 a /VelocitySetL · /VelocitySetR)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5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383280"/>
            <a:ext cx="73152" cy="1188720"/>
          </a:xfrm>
          <a:prstGeom prst="rect">
            <a:avLst/>
          </a:prstGeom>
          <a:solidFill>
            <a:srgbClr val="E55A44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474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Deadzone  |cmd| &lt; 0.30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37947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debajo de este umbral el par del motor no vence la fricción estática: el mensaje llega pero la rueda no gira. El nodo rechaza la petición.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38328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5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383280"/>
            <a:ext cx="73152" cy="118872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3474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Saturación  |cmd| &gt; 3.00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37947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Arriba de este límite el motor ya no incrementa velocidad real. El nodo rechaza la petición en vez de seguir subiendo el comando.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 Cortés · A01385387 · TE3002B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32104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ROBUSTEZ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1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 definición + lo que implementé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" cy="2743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08760"/>
            <a:ext cx="8229600" cy="822960"/>
          </a:xfrm>
          <a:prstGeom prst="rect">
            <a:avLst/>
          </a:prstGeom>
          <a:solidFill>
            <a:srgbClr val="0F1A3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Definición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controlador robusto se comporta aceptablemente aunque el modelo no sea perfecto y existan perturbaciones (fricción variable, slip, piso irregular, ruido de batería).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5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834640"/>
            <a:ext cx="411480" cy="4114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697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 lejos de extremos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9718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centrados en la zona lineal; no rozamos deadzone ni saturación.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260604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5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834640"/>
            <a:ext cx="411480" cy="4114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03520" y="2697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Pausas entre segmentos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0" y="29718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s de reposo dejan que la inercia se disipe antes del siguiente movimiento.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5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840480"/>
            <a:ext cx="411480" cy="4114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" y="3703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Pre-validación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39776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moverse, el nodo rechaza peticiones no alcanzables.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17720" y="361188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5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3840480"/>
            <a:ext cx="411480" cy="4114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03520" y="3703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 de seguridad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39776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salir (Ctrl+C, fin de plan) se publica 0.0 varias veces para garantizar stop.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 Cortés · A01385387 · TE3002B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32104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MÁQUINA DE ESTADOS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1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FSM que ejecuta el plan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" cy="2743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194560"/>
            <a:ext cx="1097280" cy="1097280"/>
          </a:xfrm>
          <a:prstGeom prst="ellipse">
            <a:avLst/>
          </a:prstGeom>
          <a:solidFill>
            <a:srgbClr val="6B73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945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20240" y="2194560"/>
            <a:ext cx="1097280" cy="1097280"/>
          </a:xfrm>
          <a:prstGeom prst="ellipse">
            <a:avLst/>
          </a:prstGeom>
          <a:solidFill>
            <a:srgbClr val="14B8A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21945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2194560"/>
            <a:ext cx="1097280" cy="1097280"/>
          </a:xfrm>
          <a:prstGeom prst="ellipse">
            <a:avLst/>
          </a:prstGeom>
          <a:solidFill>
            <a:srgbClr val="F4B9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21945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2194560"/>
            <a:ext cx="1097280" cy="1097280"/>
          </a:xfrm>
          <a:prstGeom prst="ellipse">
            <a:avLst/>
          </a:prstGeom>
          <a:solidFill>
            <a:srgbClr val="14B8A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1945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2194560"/>
            <a:ext cx="1097280" cy="1097280"/>
          </a:xfrm>
          <a:prstGeom prst="ellipse">
            <a:avLst/>
          </a:prstGeom>
          <a:solidFill>
            <a:srgbClr val="F4B9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1945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0" y="2194560"/>
            <a:ext cx="1097280" cy="1097280"/>
          </a:xfrm>
          <a:prstGeom prst="ellipse">
            <a:avLst/>
          </a:prstGeom>
          <a:solidFill>
            <a:srgbClr val="5EB47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0" y="21945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00200" y="2743200"/>
            <a:ext cx="274320" cy="0"/>
          </a:xfrm>
          <a:prstGeom prst="line">
            <a:avLst/>
          </a:prstGeom>
          <a:noFill/>
          <a:ln w="25400">
            <a:solidFill>
              <a:srgbClr val="1B213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063240" y="2743200"/>
            <a:ext cx="274320" cy="0"/>
          </a:xfrm>
          <a:prstGeom prst="line">
            <a:avLst/>
          </a:prstGeom>
          <a:noFill/>
          <a:ln w="25400">
            <a:solidFill>
              <a:srgbClr val="1B213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526280" y="2743200"/>
            <a:ext cx="274320" cy="0"/>
          </a:xfrm>
          <a:prstGeom prst="line">
            <a:avLst/>
          </a:prstGeom>
          <a:noFill/>
          <a:ln w="25400">
            <a:solidFill>
              <a:srgbClr val="1B213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989320" y="2743200"/>
            <a:ext cx="274320" cy="0"/>
          </a:xfrm>
          <a:prstGeom prst="line">
            <a:avLst/>
          </a:prstGeom>
          <a:noFill/>
          <a:ln w="25400">
            <a:solidFill>
              <a:srgbClr val="1B213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452360" y="2743200"/>
            <a:ext cx="274320" cy="0"/>
          </a:xfrm>
          <a:prstGeom prst="line">
            <a:avLst/>
          </a:prstGeom>
          <a:noFill/>
          <a:ln w="25400">
            <a:solidFill>
              <a:srgbClr val="1B213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858000" y="3291840"/>
            <a:ext cx="0" cy="274320"/>
          </a:xfrm>
          <a:prstGeom prst="line">
            <a:avLst/>
          </a:prstGeom>
          <a:noFill/>
          <a:ln w="25400">
            <a:solidFill>
              <a:srgbClr val="0D9488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2468880" y="3566160"/>
            <a:ext cx="438912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2468880" y="3291840"/>
            <a:ext cx="0" cy="274320"/>
          </a:xfrm>
          <a:prstGeom prst="line">
            <a:avLst/>
          </a:prstGeom>
          <a:noFill/>
          <a:ln w="25400">
            <a:solidFill>
              <a:srgbClr val="0D9488"/>
            </a:solidFill>
            <a:prstDash val="dash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4114800" y="3611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lado siguiente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Transiciones sólo por temporización (sin feedback):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≥ 1s</a:t>
            </a:r>
            <a:pPr indent="0" marL="0">
              <a:buNone/>
            </a:pPr>
            <a:r>
              <a:rPr lang="en-US" sz="1100" dirty="0">
                <a:solidFill>
                  <a:srgbClr val="6B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 IDLE  ·  </a:t>
            </a:r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≥ t_side</a:t>
            </a:r>
            <a:pPr indent="0" marL="0">
              <a:buNone/>
            </a:pPr>
            <a:r>
              <a:rPr lang="en-US" sz="1100" dirty="0">
                <a:solidFill>
                  <a:srgbClr val="6B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 STRAIGHT  ·  </a:t>
            </a:r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≥ t_turn</a:t>
            </a:r>
            <a:pPr indent="0" marL="0">
              <a:buNone/>
            </a:pPr>
            <a:r>
              <a:rPr lang="en-US" sz="1100" dirty="0">
                <a:solidFill>
                  <a:srgbClr val="6B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 TURN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 Cortés · A01385387 · TE3002B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32104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AUTO-TUNING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1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la intención al comando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" cy="2743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4206240" cy="685800"/>
          </a:xfrm>
          <a:prstGeom prst="rect">
            <a:avLst/>
          </a:prstGeom>
          <a:solidFill>
            <a:srgbClr val="0F1A3C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6002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k_lin × cmd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46320" y="16459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lineal velocidad real ↔ comando de rueda.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4206240" cy="685800"/>
          </a:xfrm>
          <a:prstGeom prst="rect">
            <a:avLst/>
          </a:prstGeom>
          <a:solidFill>
            <a:srgbClr val="0F1A3C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42316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ω = k_ang × cmd_turn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46320" y="24688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velocidad angular ↔ comando de giro.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4206240" cy="685800"/>
          </a:xfrm>
          <a:prstGeom prst="rect">
            <a:avLst/>
          </a:prstGeom>
          <a:solidFill>
            <a:srgbClr val="0F1A3C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2461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t_turn_90° = (π/2) ÷ ω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46320" y="32918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para girar 90° con el comando de giro elegido.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977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elige UNO. El controlador calcula el resto: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297680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5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297680"/>
            <a:ext cx="73152" cy="502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3434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mode=speed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94560" y="4343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calcula t_side = side / v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4297680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5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4297680"/>
            <a:ext cx="73152" cy="50292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43434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mode=time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4343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calcula v = side / t_side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 Cortés · A01385387 · TE3002B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32104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CALIBRACIÓN EMPÍRICA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1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k_lin y k_ang del PuzzleBot real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" cy="27432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05840" y="192024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Prueba lineal: cmd = 1.0 durante 5 s, mido distancia con cinta.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Prueba angular: L=-1, R=+1 intentando un giro de 90°, mido tiempo.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Divido entre el tiempo y obtengo las constantes del modelo.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63440" y="1600200"/>
            <a:ext cx="4023360" cy="1371600"/>
          </a:xfrm>
          <a:prstGeom prst="rect">
            <a:avLst/>
          </a:prstGeom>
          <a:solidFill>
            <a:srgbClr val="0F1A3C"/>
          </a:solidFill>
          <a:ln/>
        </p:spPr>
      </p:sp>
      <p:sp>
        <p:nvSpPr>
          <p:cNvPr id="9" name="Text 6"/>
          <p:cNvSpPr/>
          <p:nvPr/>
        </p:nvSpPr>
        <p:spPr>
          <a:xfrm>
            <a:off x="484632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K_LIN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846320" y="1965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B9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0.074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6766560" y="2103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6F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/ 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84632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6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real con cmd = 1.0 en ambas ruedas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63440" y="3063240"/>
            <a:ext cx="4023360" cy="1371600"/>
          </a:xfrm>
          <a:prstGeom prst="rect">
            <a:avLst/>
          </a:prstGeom>
          <a:solidFill>
            <a:srgbClr val="0F1A3C"/>
          </a:solidFill>
          <a:ln/>
        </p:spPr>
      </p:sp>
      <p:sp>
        <p:nvSpPr>
          <p:cNvPr id="14" name="Text 11"/>
          <p:cNvSpPr/>
          <p:nvPr/>
        </p:nvSpPr>
        <p:spPr>
          <a:xfrm>
            <a:off x="484632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K_ANG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46320" y="34290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B9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0.561</a:t>
            </a:r>
            <a:endParaRPr lang="en-US" sz="4400" dirty="0"/>
          </a:p>
        </p:txBody>
      </p:sp>
      <p:sp>
        <p:nvSpPr>
          <p:cNvPr id="16" name="Text 13"/>
          <p:cNvSpPr/>
          <p:nvPr/>
        </p:nvSpPr>
        <p:spPr>
          <a:xfrm>
            <a:off x="6766560" y="3566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6F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 / 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46320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6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giro real con L=-1, R=+1 (apuntando a 90°)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3977640"/>
            <a:ext cx="4023360" cy="640080"/>
          </a:xfrm>
          <a:prstGeom prst="rect">
            <a:avLst/>
          </a:prstGeom>
          <a:solidFill>
            <a:srgbClr val="F4B942">
              <a:alpha val="20000"/>
            </a:srgbClr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fino para waypoints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94360" y="4297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velocidad de avance se bajó a 0.050 m/s para dar más tiempo a distancias cortas.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 Cortés · A01385387 · TE3002B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32104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PRUEBA 1 · CUADRADO 50 CM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1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Perímetro cerrado en lazo abierto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" cy="2743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Shape 3"/>
          <p:cNvSpPr/>
          <p:nvPr/>
        </p:nvSpPr>
        <p:spPr>
          <a:xfrm>
            <a:off x="1188720" y="2103120"/>
            <a:ext cx="2103120" cy="2103120"/>
          </a:xfrm>
          <a:prstGeom prst="rect">
            <a:avLst/>
          </a:prstGeom>
          <a:solidFill>
            <a:srgbClr val="FFFFFF"/>
          </a:solidFill>
          <a:ln w="381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" y="202996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Shape 5"/>
          <p:cNvSpPr/>
          <p:nvPr/>
        </p:nvSpPr>
        <p:spPr>
          <a:xfrm>
            <a:off x="3218688" y="202996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8" name="Shape 6"/>
          <p:cNvSpPr/>
          <p:nvPr/>
        </p:nvSpPr>
        <p:spPr>
          <a:xfrm>
            <a:off x="3218688" y="413308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413308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4297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cm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2103120"/>
            <a:ext cx="822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cm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24128" y="4041648"/>
            <a:ext cx="329184" cy="329184"/>
          </a:xfrm>
          <a:prstGeom prst="ellipse">
            <a:avLst/>
          </a:prstGeom>
          <a:solidFill>
            <a:srgbClr val="5EB47A"/>
          </a:solidFill>
          <a:ln/>
        </p:spPr>
      </p:sp>
      <p:sp>
        <p:nvSpPr>
          <p:cNvPr id="13" name="Text 11"/>
          <p:cNvSpPr/>
          <p:nvPr/>
        </p:nvSpPr>
        <p:spPr>
          <a:xfrm>
            <a:off x="1024128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1737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 auto-calculado  (mode=speed, v=0.050 m/s)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2103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Lado del cuadrado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32320" y="2103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0.500 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23957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lineal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0" y="23957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0.050 m/s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26883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straight_cmd (rueda)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32320" y="26883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0.676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29809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por lado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32320" y="29809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10.00 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32735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giro 90°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32320" y="32735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2.80 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3566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 entre segs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32320" y="3566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0.50 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63440" y="3858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total est.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32320" y="38587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 57 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solidFill>
            <a:srgbClr val="0F1A3C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343400"/>
            <a:ext cx="274320" cy="27432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005840" y="42976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6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Cierra el cuadrado y termina apuntando hacia la orientación inicial.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 Cortés · A01385387 · TE3002B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32104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PRUEBA 2 · WAYPOINTS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1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Inicio → 3 waypoints → final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" cy="2743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28800"/>
            <a:ext cx="40233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5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3763108"/>
            <a:ext cx="4023360" cy="0"/>
          </a:xfrm>
          <a:prstGeom prst="line">
            <a:avLst/>
          </a:prstGeom>
          <a:noFill/>
          <a:ln w="9525">
            <a:solidFill>
              <a:srgbClr val="D7D5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4825" y="3717388"/>
            <a:ext cx="0" cy="91440"/>
          </a:xfrm>
          <a:prstGeom prst="line">
            <a:avLst/>
          </a:prstGeom>
          <a:noFill/>
          <a:ln w="12700">
            <a:solidFill>
              <a:srgbClr val="6B73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0505" y="38088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m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342271" y="3717388"/>
            <a:ext cx="0" cy="91440"/>
          </a:xfrm>
          <a:prstGeom prst="line">
            <a:avLst/>
          </a:prstGeom>
          <a:noFill/>
          <a:ln w="12700">
            <a:solidFill>
              <a:srgbClr val="6B73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67951" y="38088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 m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889717" y="3717388"/>
            <a:ext cx="0" cy="91440"/>
          </a:xfrm>
          <a:prstGeom prst="line">
            <a:avLst/>
          </a:prstGeom>
          <a:noFill/>
          <a:ln w="12700">
            <a:solidFill>
              <a:srgbClr val="6B73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5397" y="38088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 m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94825" y="3763108"/>
            <a:ext cx="1392702" cy="-527538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187526" y="3235569"/>
            <a:ext cx="1083212" cy="-879231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270738" y="2356338"/>
            <a:ext cx="928468" cy="1055077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199206" y="3411415"/>
            <a:ext cx="-928468" cy="351692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66809" y="3635092"/>
            <a:ext cx="256032" cy="256032"/>
          </a:xfrm>
          <a:prstGeom prst="ellipse">
            <a:avLst/>
          </a:prstGeom>
          <a:solidFill>
            <a:srgbClr val="5EB4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6809" y="36350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059510" y="3107553"/>
            <a:ext cx="256032" cy="256032"/>
          </a:xfrm>
          <a:prstGeom prst="ellipse">
            <a:avLst/>
          </a:prstGeom>
          <a:solidFill>
            <a:srgbClr val="F4B94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59510" y="310755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42722" y="2228322"/>
            <a:ext cx="256032" cy="256032"/>
          </a:xfrm>
          <a:prstGeom prst="ellipse">
            <a:avLst/>
          </a:prstGeom>
          <a:solidFill>
            <a:srgbClr val="F4B94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42722" y="222832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071190" y="3283399"/>
            <a:ext cx="256032" cy="256032"/>
          </a:xfrm>
          <a:prstGeom prst="ellipse">
            <a:avLst/>
          </a:prstGeom>
          <a:solidFill>
            <a:srgbClr val="F4B94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71190" y="328339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142722" y="3635092"/>
            <a:ext cx="256032" cy="256032"/>
          </a:xfrm>
          <a:prstGeom prst="ellipse">
            <a:avLst/>
          </a:prstGeom>
          <a:solidFill>
            <a:srgbClr val="E55A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42722" y="36350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4632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Waypoints (x, y) en metros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2103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 inicio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(0.00, 0.00)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2395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W₁ waypoint 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0" y="2395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(0.45, 0.15)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46320" y="26883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W₂ waypoint 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58000" y="26883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(0.80, 0.40)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29809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W₃ waypoint 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58000" y="29809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(1.10, 0.10)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46320" y="3273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 final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58000" y="3273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(0.80, 0.00)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46320" y="3657600"/>
            <a:ext cx="4114800" cy="960120"/>
          </a:xfrm>
          <a:prstGeom prst="rect">
            <a:avLst/>
          </a:prstGeom>
          <a:solidFill>
            <a:srgbClr val="0F1A3C"/>
          </a:solidFill>
          <a:ln/>
        </p:spPr>
      </p:sp>
      <p:sp>
        <p:nvSpPr>
          <p:cNvPr id="39" name="Text 37"/>
          <p:cNvSpPr/>
          <p:nvPr/>
        </p:nvSpPr>
        <p:spPr>
          <a:xfrm>
            <a:off x="4983480" y="3703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 cada segmento el path generator: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83480" y="39502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Δθ = atan2(Δy, Δx) − heading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83480" y="41879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√(Δx² + Δy²)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983480" y="440740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6F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t_turn, t_fwd  ·  wrap a (-π, π]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 Cortés · A01385387 · TE3002B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32104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Challenge 2 — Controlador de lazo abierto robusto</dc:title>
  <dc:subject>PptxGenJS Presentation</dc:subject>
  <dc:creator>Kurt Cortés</dc:creator>
  <cp:lastModifiedBy>Kurt Cortés</cp:lastModifiedBy>
  <cp:revision>1</cp:revision>
  <dcterms:created xsi:type="dcterms:W3CDTF">2026-04-17T09:47:58Z</dcterms:created>
  <dcterms:modified xsi:type="dcterms:W3CDTF">2026-04-17T09:47:58Z</dcterms:modified>
</cp:coreProperties>
</file>