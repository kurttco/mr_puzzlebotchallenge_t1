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D6750781-943C-40F2-B24A-5EF75B08989A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F6B0575-07E4-4ECE-B645-142AFE622C8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FB54CD3-486E-48F4-B90F-C15B7F085B9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8B938F8-A77C-4900-B7A8-43841A9F8A8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09435DD-382D-4F85-BFE0-A611F6A106B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4641B60-40C3-4779-819C-CC48E75544A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90E698E-9086-402B-9E25-7D45C74F871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172EB7F-555E-4344-8095-707C58BE937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530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7772400" y="0"/>
            <a:ext cx="1371240" cy="1371240"/>
          </a:xfrm>
          <a:prstGeom prst="rect">
            <a:avLst/>
          </a:prstGeom>
          <a:solidFill>
            <a:srgbClr val="0077b6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411480" y="320040"/>
            <a:ext cx="2011320" cy="41112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411480" y="320040"/>
            <a:ext cx="2011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d1b2a"/>
                </a:solidFill>
                <a:latin typeface="Calibri"/>
                <a:ea typeface="Calibri"/>
              </a:rPr>
              <a:t>TEAM 1 · REPO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411480" y="804600"/>
            <a:ext cx="2011320" cy="365400"/>
          </a:xfrm>
          <a:prstGeom prst="rect">
            <a:avLst/>
          </a:prstGeom>
          <a:solidFill>
            <a:srgbClr val="ffffff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411480" y="804600"/>
            <a:ext cx="2011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90e0ef"/>
                </a:solidFill>
                <a:latin typeface="Calibri"/>
                <a:ea typeface="Calibri"/>
              </a:rPr>
              <a:t>TE3002B · Mobile Robotics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411480" y="1554480"/>
            <a:ext cx="8229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497" strike="noStrike">
                <a:solidFill>
                  <a:srgbClr val="00b4d8"/>
                </a:solidFill>
                <a:latin typeface="Calibri"/>
                <a:ea typeface="Calibri"/>
              </a:rPr>
              <a:t>MINI CHALLENGE 5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411480" y="1920240"/>
            <a:ext cx="804636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600" spc="-1" strike="noStrike">
                <a:solidFill>
                  <a:srgbClr val="ffffff"/>
                </a:solidFill>
                <a:latin typeface="Calibri"/>
                <a:ea typeface="Calibri"/>
              </a:rPr>
              <a:t>Line Following</a:t>
            </a:r>
            <a:endParaRPr b="0" lang="en-US" sz="4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600" spc="-1" strike="noStrike">
                <a:solidFill>
                  <a:srgbClr val="ffffff"/>
                </a:solidFill>
                <a:latin typeface="Calibri"/>
                <a:ea typeface="Calibri"/>
              </a:rPr>
              <a:t>&amp; Traffic Light Control</a:t>
            </a:r>
            <a:endParaRPr b="0" lang="en-US" sz="4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 8"/>
          <p:cNvSpPr/>
          <p:nvPr/>
        </p:nvSpPr>
        <p:spPr>
          <a:xfrm>
            <a:off x="411480" y="3840480"/>
            <a:ext cx="8229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64748b"/>
                </a:solidFill>
                <a:latin typeface="Calibri"/>
                <a:ea typeface="Calibri"/>
              </a:rPr>
              <a:t>Closed-loop PID navigation using computer vision · PuzzleBot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8138160" y="1645920"/>
            <a:ext cx="164160" cy="164160"/>
          </a:xfrm>
          <a:prstGeom prst="ellipse">
            <a:avLst/>
          </a:prstGeom>
          <a:solidFill>
            <a:srgbClr val="d6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8138160" y="1920240"/>
            <a:ext cx="164160" cy="164160"/>
          </a:xfrm>
          <a:prstGeom prst="ellipse">
            <a:avLst/>
          </a:prstGeom>
          <a:solidFill>
            <a:srgbClr val="f4a2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8138160" y="2194560"/>
            <a:ext cx="164160" cy="164160"/>
          </a:xfrm>
          <a:prstGeom prst="ellipse">
            <a:avLst/>
          </a:prstGeom>
          <a:solidFill>
            <a:srgbClr val="06a7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/>
          <p:nvPr/>
        </p:nvSpPr>
        <p:spPr>
          <a:xfrm>
            <a:off x="457200" y="25596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d1b2a"/>
                </a:solidFill>
                <a:latin typeface="Calibri"/>
                <a:ea typeface="Calibri"/>
              </a:rPr>
              <a:t>The Challenge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Shape 1"/>
          <p:cNvSpPr/>
          <p:nvPr/>
        </p:nvSpPr>
        <p:spPr>
          <a:xfrm>
            <a:off x="457200" y="960120"/>
            <a:ext cx="3794400" cy="32914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Shape 2"/>
          <p:cNvSpPr/>
          <p:nvPr/>
        </p:nvSpPr>
        <p:spPr>
          <a:xfrm>
            <a:off x="457200" y="960120"/>
            <a:ext cx="63720" cy="3291480"/>
          </a:xfrm>
          <a:prstGeom prst="rect">
            <a:avLst/>
          </a:prstGeom>
          <a:solidFill>
            <a:srgbClr val="0077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Text 3"/>
          <p:cNvSpPr/>
          <p:nvPr/>
        </p:nvSpPr>
        <p:spPr>
          <a:xfrm>
            <a:off x="658440" y="1078920"/>
            <a:ext cx="3474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077b6"/>
                </a:solidFill>
                <a:latin typeface="Calibri"/>
                <a:ea typeface="Calibri"/>
              </a:rPr>
              <a:t>Part 1 — Line Following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Text 4"/>
          <p:cNvSpPr/>
          <p:nvPr/>
        </p:nvSpPr>
        <p:spPr>
          <a:xfrm>
            <a:off x="658440" y="1508760"/>
            <a:ext cx="3474360" cy="25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334155"/>
                </a:solidFill>
                <a:latin typeface="Calibri"/>
                <a:ea typeface="Calibri"/>
              </a:rPr>
              <a:t>Follow a black line on a physical track using the robot camera — no GPS, no pre-defined waypoints.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334155"/>
                </a:solidFill>
                <a:latin typeface="Calibri"/>
                <a:ea typeface="Calibri"/>
              </a:rPr>
              <a:t> 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334155"/>
                </a:solidFill>
                <a:latin typeface="Calibri"/>
                <a:ea typeface="Calibri"/>
              </a:rPr>
              <a:t>The camera becomes the sensor. The line centroid is the setpoint. A PID controller drives angular velocity to keep the robot centered on the track.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334155"/>
                </a:solidFill>
                <a:latin typeface="Calibri"/>
                <a:ea typeface="Calibri"/>
              </a:rPr>
              <a:t> 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334155"/>
                </a:solidFill>
                <a:latin typeface="Calibri"/>
                <a:ea typeface="Calibri"/>
              </a:rPr>
              <a:t>Track: 3 parallel black lines on a tan mat, with curves and an intersection.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Shape 5"/>
          <p:cNvSpPr/>
          <p:nvPr/>
        </p:nvSpPr>
        <p:spPr>
          <a:xfrm>
            <a:off x="4846320" y="960120"/>
            <a:ext cx="3794400" cy="32914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Shape 6"/>
          <p:cNvSpPr/>
          <p:nvPr/>
        </p:nvSpPr>
        <p:spPr>
          <a:xfrm>
            <a:off x="4846320" y="960120"/>
            <a:ext cx="63720" cy="329148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Text 7"/>
          <p:cNvSpPr/>
          <p:nvPr/>
        </p:nvSpPr>
        <p:spPr>
          <a:xfrm>
            <a:off x="5047560" y="1078920"/>
            <a:ext cx="34743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077b6"/>
                </a:solidFill>
                <a:latin typeface="Calibri"/>
                <a:ea typeface="Calibri"/>
              </a:rPr>
              <a:t>Part 2 — Traffic Light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Text 8"/>
          <p:cNvSpPr/>
          <p:nvPr/>
        </p:nvSpPr>
        <p:spPr>
          <a:xfrm>
            <a:off x="5047560" y="1508760"/>
            <a:ext cx="3474360" cy="25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334155"/>
                </a:solidFill>
                <a:latin typeface="Calibri"/>
                <a:ea typeface="Calibri"/>
              </a:rPr>
              <a:t>Integrate real-time color detection with the line follower: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334155"/>
                </a:solidFill>
                <a:latin typeface="Calibri"/>
                <a:ea typeface="Calibri"/>
              </a:rPr>
              <a:t> 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334155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300" spc="-1" strike="noStrike">
                <a:solidFill>
                  <a:srgbClr val="334155"/>
                </a:solidFill>
                <a:latin typeface="Calibri"/>
                <a:ea typeface="Calibri"/>
              </a:rPr>
              <a:t>Red  — full stop (latched until green)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334155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300" spc="-1" strike="noStrike">
                <a:solidFill>
                  <a:srgbClr val="334155"/>
                </a:solidFill>
                <a:latin typeface="Calibri"/>
                <a:ea typeface="Calibri"/>
              </a:rPr>
              <a:t>Yellow  — slow down to 40% speed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334155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en-US" sz="1300" spc="-1" strike="noStrike">
                <a:solidFill>
                  <a:srgbClr val="334155"/>
                </a:solidFill>
                <a:latin typeface="Calibri"/>
                <a:ea typeface="Calibri"/>
              </a:rPr>
              <a:t>Green  — resume normal speed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334155"/>
                </a:solidFill>
                <a:latin typeface="Calibri"/>
                <a:ea typeface="Calibri"/>
              </a:rPr>
              <a:t> 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334155"/>
                </a:solidFill>
                <a:latin typeface="Calibri"/>
                <a:ea typeface="Calibri"/>
              </a:rPr>
              <a:t>The robot must not move again until it sees several consecutive green frames — not just one.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0"/>
          <p:cNvSpPr/>
          <p:nvPr/>
        </p:nvSpPr>
        <p:spPr>
          <a:xfrm>
            <a:off x="457200" y="25596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d1b2a"/>
                </a:solidFill>
                <a:latin typeface="Calibri"/>
                <a:ea typeface="Calibri"/>
              </a:rPr>
              <a:t>System Architecture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Shape 1"/>
          <p:cNvSpPr/>
          <p:nvPr/>
        </p:nvSpPr>
        <p:spPr>
          <a:xfrm>
            <a:off x="320040" y="1005840"/>
            <a:ext cx="1919880" cy="776880"/>
          </a:xfrm>
          <a:prstGeom prst="rect">
            <a:avLst/>
          </a:prstGeom>
          <a:solidFill>
            <a:srgbClr val="64748b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Text 2"/>
          <p:cNvSpPr/>
          <p:nvPr/>
        </p:nvSpPr>
        <p:spPr>
          <a:xfrm>
            <a:off x="320040" y="1005840"/>
            <a:ext cx="19198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Camera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(ros_deep_learning)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Shape 3"/>
          <p:cNvSpPr/>
          <p:nvPr/>
        </p:nvSpPr>
        <p:spPr>
          <a:xfrm>
            <a:off x="320040" y="2148840"/>
            <a:ext cx="1919880" cy="776880"/>
          </a:xfrm>
          <a:prstGeom prst="rect">
            <a:avLst/>
          </a:prstGeom>
          <a:solidFill>
            <a:srgbClr val="0077b6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Text 4"/>
          <p:cNvSpPr/>
          <p:nvPr/>
        </p:nvSpPr>
        <p:spPr>
          <a:xfrm>
            <a:off x="320040" y="2148840"/>
            <a:ext cx="19198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line_detector.py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Shape 5"/>
          <p:cNvSpPr/>
          <p:nvPr/>
        </p:nvSpPr>
        <p:spPr>
          <a:xfrm>
            <a:off x="320040" y="3291840"/>
            <a:ext cx="1919880" cy="776880"/>
          </a:xfrm>
          <a:prstGeom prst="rect">
            <a:avLst/>
          </a:prstGeom>
          <a:solidFill>
            <a:srgbClr val="00b4d8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Text 6"/>
          <p:cNvSpPr/>
          <p:nvPr/>
        </p:nvSpPr>
        <p:spPr>
          <a:xfrm>
            <a:off x="320040" y="3291840"/>
            <a:ext cx="19198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traffic_light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_detector.py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Shape 7"/>
          <p:cNvSpPr/>
          <p:nvPr/>
        </p:nvSpPr>
        <p:spPr>
          <a:xfrm>
            <a:off x="3611880" y="2148840"/>
            <a:ext cx="2285640" cy="776880"/>
          </a:xfrm>
          <a:prstGeom prst="rect">
            <a:avLst/>
          </a:prstGeom>
          <a:solidFill>
            <a:srgbClr val="0077b6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Text 8"/>
          <p:cNvSpPr/>
          <p:nvPr/>
        </p:nvSpPr>
        <p:spPr>
          <a:xfrm>
            <a:off x="3611880" y="2148840"/>
            <a:ext cx="22856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controller.py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(line_following mode)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Shape 9"/>
          <p:cNvSpPr/>
          <p:nvPr/>
        </p:nvSpPr>
        <p:spPr>
          <a:xfrm>
            <a:off x="6537960" y="2148840"/>
            <a:ext cx="1919880" cy="776880"/>
          </a:xfrm>
          <a:prstGeom prst="rect">
            <a:avLst/>
          </a:prstGeom>
          <a:solidFill>
            <a:srgbClr val="64748b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Text 10"/>
          <p:cNvSpPr/>
          <p:nvPr/>
        </p:nvSpPr>
        <p:spPr>
          <a:xfrm>
            <a:off x="6537960" y="2148840"/>
            <a:ext cx="19198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cmd_vel_bridge.py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Shape 11"/>
          <p:cNvSpPr/>
          <p:nvPr/>
        </p:nvSpPr>
        <p:spPr>
          <a:xfrm>
            <a:off x="6537960" y="3291840"/>
            <a:ext cx="1919880" cy="776880"/>
          </a:xfrm>
          <a:prstGeom prst="rect">
            <a:avLst/>
          </a:prstGeom>
          <a:solidFill>
            <a:srgbClr val="475569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Text 12"/>
          <p:cNvSpPr/>
          <p:nvPr/>
        </p:nvSpPr>
        <p:spPr>
          <a:xfrm>
            <a:off x="6537960" y="3291840"/>
            <a:ext cx="19198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Hackerboard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(ESP32 firmware)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Shape 13"/>
          <p:cNvSpPr/>
          <p:nvPr/>
        </p:nvSpPr>
        <p:spPr>
          <a:xfrm>
            <a:off x="3611880" y="1005840"/>
            <a:ext cx="2285640" cy="776880"/>
          </a:xfrm>
          <a:prstGeom prst="rect">
            <a:avLst/>
          </a:prstGeom>
          <a:solidFill>
            <a:srgbClr val="475569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Text 14"/>
          <p:cNvSpPr/>
          <p:nvPr/>
        </p:nvSpPr>
        <p:spPr>
          <a:xfrm>
            <a:off x="3611880" y="1005840"/>
            <a:ext cx="22856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  <a:ea typeface="Calibri"/>
              </a:rPr>
              <a:t>odometry_node.py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Shape 15"/>
          <p:cNvSpPr/>
          <p:nvPr/>
        </p:nvSpPr>
        <p:spPr>
          <a:xfrm>
            <a:off x="1280160" y="1801080"/>
            <a:ext cx="360" cy="320040"/>
          </a:xfrm>
          <a:prstGeom prst="line">
            <a:avLst/>
          </a:prstGeom>
          <a:ln w="19050">
            <a:solidFill>
              <a:srgbClr val="0077b6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Shape 16"/>
          <p:cNvSpPr/>
          <p:nvPr/>
        </p:nvSpPr>
        <p:spPr>
          <a:xfrm>
            <a:off x="1280160" y="1801080"/>
            <a:ext cx="360" cy="1463040"/>
          </a:xfrm>
          <a:prstGeom prst="line">
            <a:avLst/>
          </a:prstGeom>
          <a:ln w="19050">
            <a:solidFill>
              <a:srgbClr val="00b4d8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Shape 17"/>
          <p:cNvSpPr/>
          <p:nvPr/>
        </p:nvSpPr>
        <p:spPr>
          <a:xfrm>
            <a:off x="2258280" y="2541960"/>
            <a:ext cx="1353600" cy="360"/>
          </a:xfrm>
          <a:prstGeom prst="line">
            <a:avLst/>
          </a:prstGeom>
          <a:ln w="19050">
            <a:solidFill>
              <a:srgbClr val="0077b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Shape 18"/>
          <p:cNvSpPr/>
          <p:nvPr/>
        </p:nvSpPr>
        <p:spPr>
          <a:xfrm>
            <a:off x="2258280" y="3675600"/>
            <a:ext cx="1536480" cy="36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Shape 19"/>
          <p:cNvSpPr/>
          <p:nvPr/>
        </p:nvSpPr>
        <p:spPr>
          <a:xfrm>
            <a:off x="3794760" y="2944080"/>
            <a:ext cx="360" cy="73152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Shape 20"/>
          <p:cNvSpPr/>
          <p:nvPr/>
        </p:nvSpPr>
        <p:spPr>
          <a:xfrm>
            <a:off x="5915880" y="2541960"/>
            <a:ext cx="612720" cy="360"/>
          </a:xfrm>
          <a:prstGeom prst="line">
            <a:avLst/>
          </a:prstGeom>
          <a:ln w="1905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Shape 21"/>
          <p:cNvSpPr/>
          <p:nvPr/>
        </p:nvSpPr>
        <p:spPr>
          <a:xfrm>
            <a:off x="7498080" y="2944080"/>
            <a:ext cx="360" cy="347760"/>
          </a:xfrm>
          <a:prstGeom prst="line">
            <a:avLst/>
          </a:prstGeom>
          <a:ln w="1905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Shape 22"/>
          <p:cNvSpPr/>
          <p:nvPr/>
        </p:nvSpPr>
        <p:spPr>
          <a:xfrm>
            <a:off x="4754880" y="1801080"/>
            <a:ext cx="360" cy="347760"/>
          </a:xfrm>
          <a:prstGeom prst="line">
            <a:avLst/>
          </a:prstGeom>
          <a:ln w="19050">
            <a:solidFill>
              <a:srgbClr val="475569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23"/>
          <p:cNvSpPr/>
          <p:nvPr/>
        </p:nvSpPr>
        <p:spPr>
          <a:xfrm>
            <a:off x="320040" y="1828800"/>
            <a:ext cx="8226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0077b6"/>
                </a:solidFill>
                <a:latin typeface="Calibri"/>
                <a:ea typeface="Calibri"/>
              </a:rPr>
              <a:t>/video_source/raw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24"/>
          <p:cNvSpPr/>
          <p:nvPr/>
        </p:nvSpPr>
        <p:spPr>
          <a:xfrm>
            <a:off x="2286000" y="2240280"/>
            <a:ext cx="1279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0077b6"/>
                </a:solidFill>
                <a:latin typeface="Calibri"/>
                <a:ea typeface="Calibri"/>
              </a:rPr>
              <a:t>/line_error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0077b6"/>
                </a:solidFill>
                <a:latin typeface="Calibri"/>
                <a:ea typeface="Calibri"/>
              </a:rPr>
              <a:t>/line_detected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 25"/>
          <p:cNvSpPr/>
          <p:nvPr/>
        </p:nvSpPr>
        <p:spPr>
          <a:xfrm>
            <a:off x="2286000" y="3456360"/>
            <a:ext cx="1279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00b4d8"/>
                </a:solidFill>
                <a:latin typeface="Calibri"/>
                <a:ea typeface="Calibri"/>
              </a:rPr>
              <a:t>/semaphore_state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 26"/>
          <p:cNvSpPr/>
          <p:nvPr/>
        </p:nvSpPr>
        <p:spPr>
          <a:xfrm>
            <a:off x="5943600" y="2286000"/>
            <a:ext cx="594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Calibri"/>
                <a:ea typeface="Calibri"/>
              </a:rPr>
              <a:t>/cmd_vel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27"/>
          <p:cNvSpPr/>
          <p:nvPr/>
        </p:nvSpPr>
        <p:spPr>
          <a:xfrm>
            <a:off x="6537960" y="2999160"/>
            <a:ext cx="868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64748b"/>
                </a:solidFill>
                <a:latin typeface="Calibri"/>
                <a:ea typeface="Calibri"/>
              </a:rPr>
              <a:t>L/R Velocity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 28"/>
          <p:cNvSpPr/>
          <p:nvPr/>
        </p:nvSpPr>
        <p:spPr>
          <a:xfrm>
            <a:off x="4846320" y="1234440"/>
            <a:ext cx="1005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475569"/>
                </a:solidFill>
                <a:latin typeface="Calibri"/>
                <a:ea typeface="Calibri"/>
              </a:rPr>
              <a:t>/robot_pose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0"/>
          <p:cNvSpPr/>
          <p:nvPr/>
        </p:nvSpPr>
        <p:spPr>
          <a:xfrm>
            <a:off x="457200" y="25596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d1b2a"/>
                </a:solidFill>
                <a:latin typeface="Calibri"/>
                <a:ea typeface="Calibri"/>
              </a:rPr>
              <a:t>Line Detection — Vision Pipeline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Shape 1"/>
          <p:cNvSpPr/>
          <p:nvPr/>
        </p:nvSpPr>
        <p:spPr>
          <a:xfrm>
            <a:off x="182880" y="1051560"/>
            <a:ext cx="1096920" cy="959760"/>
          </a:xfrm>
          <a:prstGeom prst="rect">
            <a:avLst/>
          </a:prstGeom>
          <a:solidFill>
            <a:srgbClr val="0d1b2a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Text 2"/>
          <p:cNvSpPr/>
          <p:nvPr/>
        </p:nvSpPr>
        <p:spPr>
          <a:xfrm>
            <a:off x="219600" y="108828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0b4d8"/>
                </a:solidFill>
                <a:latin typeface="Calibri"/>
                <a:ea typeface="Calibri"/>
              </a:rPr>
              <a:t>1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 3"/>
          <p:cNvSpPr/>
          <p:nvPr/>
        </p:nvSpPr>
        <p:spPr>
          <a:xfrm>
            <a:off x="182880" y="1307520"/>
            <a:ext cx="10969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Camera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Frame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 4"/>
          <p:cNvSpPr/>
          <p:nvPr/>
        </p:nvSpPr>
        <p:spPr>
          <a:xfrm>
            <a:off x="182880" y="1691640"/>
            <a:ext cx="1096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90e0ef"/>
                </a:solidFill>
                <a:latin typeface="Calibri"/>
                <a:ea typeface="Calibri"/>
              </a:rPr>
              <a:t>640×480 BGR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Shape 5"/>
          <p:cNvSpPr/>
          <p:nvPr/>
        </p:nvSpPr>
        <p:spPr>
          <a:xfrm>
            <a:off x="1298160" y="1531440"/>
            <a:ext cx="119160" cy="36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6"/>
          <p:cNvSpPr/>
          <p:nvPr/>
        </p:nvSpPr>
        <p:spPr>
          <a:xfrm>
            <a:off x="1435680" y="1051560"/>
            <a:ext cx="1096920" cy="959760"/>
          </a:xfrm>
          <a:prstGeom prst="rect">
            <a:avLst/>
          </a:prstGeom>
          <a:solidFill>
            <a:srgbClr val="0d1b2a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Text 7"/>
          <p:cNvSpPr/>
          <p:nvPr/>
        </p:nvSpPr>
        <p:spPr>
          <a:xfrm>
            <a:off x="1472040" y="108828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0b4d8"/>
                </a:solidFill>
                <a:latin typeface="Calibri"/>
                <a:ea typeface="Calibri"/>
              </a:rPr>
              <a:t>2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 8"/>
          <p:cNvSpPr/>
          <p:nvPr/>
        </p:nvSpPr>
        <p:spPr>
          <a:xfrm>
            <a:off x="1435680" y="1307520"/>
            <a:ext cx="10969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Crop ROI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 9"/>
          <p:cNvSpPr/>
          <p:nvPr/>
        </p:nvSpPr>
        <p:spPr>
          <a:xfrm>
            <a:off x="1435680" y="1691640"/>
            <a:ext cx="1096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90e0ef"/>
                </a:solidFill>
                <a:latin typeface="Calibri"/>
                <a:ea typeface="Calibri"/>
              </a:rPr>
              <a:t>Bottom 30%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90e0ef"/>
                </a:solidFill>
                <a:latin typeface="Calibri"/>
                <a:ea typeface="Calibri"/>
              </a:rPr>
              <a:t>of image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10"/>
          <p:cNvSpPr/>
          <p:nvPr/>
        </p:nvSpPr>
        <p:spPr>
          <a:xfrm>
            <a:off x="2550960" y="1531440"/>
            <a:ext cx="118800" cy="36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Shape 11"/>
          <p:cNvSpPr/>
          <p:nvPr/>
        </p:nvSpPr>
        <p:spPr>
          <a:xfrm>
            <a:off x="2688480" y="1051560"/>
            <a:ext cx="1096920" cy="959760"/>
          </a:xfrm>
          <a:prstGeom prst="rect">
            <a:avLst/>
          </a:prstGeom>
          <a:solidFill>
            <a:srgbClr val="0d1b2a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Text 12"/>
          <p:cNvSpPr/>
          <p:nvPr/>
        </p:nvSpPr>
        <p:spPr>
          <a:xfrm>
            <a:off x="2724840" y="108828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0b4d8"/>
                </a:solidFill>
                <a:latin typeface="Calibri"/>
                <a:ea typeface="Calibri"/>
              </a:rPr>
              <a:t>3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13"/>
          <p:cNvSpPr/>
          <p:nvPr/>
        </p:nvSpPr>
        <p:spPr>
          <a:xfrm>
            <a:off x="2688480" y="1307520"/>
            <a:ext cx="10969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Grayscale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+ Blur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14"/>
          <p:cNvSpPr/>
          <p:nvPr/>
        </p:nvSpPr>
        <p:spPr>
          <a:xfrm>
            <a:off x="2688480" y="1691640"/>
            <a:ext cx="1096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90e0ef"/>
                </a:solidFill>
                <a:latin typeface="Calibri"/>
                <a:ea typeface="Calibri"/>
              </a:rPr>
              <a:t>Gaussian 5x5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Shape 15"/>
          <p:cNvSpPr/>
          <p:nvPr/>
        </p:nvSpPr>
        <p:spPr>
          <a:xfrm>
            <a:off x="3803760" y="1531440"/>
            <a:ext cx="118800" cy="36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Shape 16"/>
          <p:cNvSpPr/>
          <p:nvPr/>
        </p:nvSpPr>
        <p:spPr>
          <a:xfrm>
            <a:off x="3940920" y="1051560"/>
            <a:ext cx="1096920" cy="959760"/>
          </a:xfrm>
          <a:prstGeom prst="rect">
            <a:avLst/>
          </a:prstGeom>
          <a:solidFill>
            <a:srgbClr val="0d1b2a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Text 17"/>
          <p:cNvSpPr/>
          <p:nvPr/>
        </p:nvSpPr>
        <p:spPr>
          <a:xfrm>
            <a:off x="3977640" y="108828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0b4d8"/>
                </a:solidFill>
                <a:latin typeface="Calibri"/>
                <a:ea typeface="Calibri"/>
              </a:rPr>
              <a:t>4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18"/>
          <p:cNvSpPr/>
          <p:nvPr/>
        </p:nvSpPr>
        <p:spPr>
          <a:xfrm>
            <a:off x="3940920" y="1307520"/>
            <a:ext cx="10969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Adaptive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Threshold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19"/>
          <p:cNvSpPr/>
          <p:nvPr/>
        </p:nvSpPr>
        <p:spPr>
          <a:xfrm>
            <a:off x="3940920" y="1691640"/>
            <a:ext cx="1096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90e0ef"/>
                </a:solidFill>
                <a:latin typeface="Calibri"/>
                <a:ea typeface="Calibri"/>
              </a:rPr>
              <a:t>BINARY_INV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90e0ef"/>
                </a:solidFill>
                <a:latin typeface="Calibri"/>
                <a:ea typeface="Calibri"/>
              </a:rPr>
              <a:t>local contrast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Shape 20"/>
          <p:cNvSpPr/>
          <p:nvPr/>
        </p:nvSpPr>
        <p:spPr>
          <a:xfrm>
            <a:off x="5056560" y="1531440"/>
            <a:ext cx="118800" cy="36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Shape 21"/>
          <p:cNvSpPr/>
          <p:nvPr/>
        </p:nvSpPr>
        <p:spPr>
          <a:xfrm>
            <a:off x="5193720" y="1051560"/>
            <a:ext cx="1096920" cy="959760"/>
          </a:xfrm>
          <a:prstGeom prst="rect">
            <a:avLst/>
          </a:prstGeom>
          <a:solidFill>
            <a:srgbClr val="0d1b2a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Text 22"/>
          <p:cNvSpPr/>
          <p:nvPr/>
        </p:nvSpPr>
        <p:spPr>
          <a:xfrm>
            <a:off x="5230440" y="108828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0b4d8"/>
                </a:solidFill>
                <a:latin typeface="Calibri"/>
                <a:ea typeface="Calibri"/>
              </a:rPr>
              <a:t>5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 23"/>
          <p:cNvSpPr/>
          <p:nvPr/>
        </p:nvSpPr>
        <p:spPr>
          <a:xfrm>
            <a:off x="5193720" y="1307520"/>
            <a:ext cx="10969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Morphology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Open + Close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 24"/>
          <p:cNvSpPr/>
          <p:nvPr/>
        </p:nvSpPr>
        <p:spPr>
          <a:xfrm>
            <a:off x="5193720" y="1691640"/>
            <a:ext cx="1096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90e0ef"/>
                </a:solidFill>
                <a:latin typeface="Calibri"/>
                <a:ea typeface="Calibri"/>
              </a:rPr>
              <a:t>Noise removal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90e0ef"/>
                </a:solidFill>
                <a:latin typeface="Calibri"/>
                <a:ea typeface="Calibri"/>
              </a:rPr>
              <a:t>gap filling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Shape 25"/>
          <p:cNvSpPr/>
          <p:nvPr/>
        </p:nvSpPr>
        <p:spPr>
          <a:xfrm>
            <a:off x="6309360" y="1531440"/>
            <a:ext cx="118800" cy="36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Shape 26"/>
          <p:cNvSpPr/>
          <p:nvPr/>
        </p:nvSpPr>
        <p:spPr>
          <a:xfrm>
            <a:off x="6446520" y="1051560"/>
            <a:ext cx="1096920" cy="959760"/>
          </a:xfrm>
          <a:prstGeom prst="rect">
            <a:avLst/>
          </a:prstGeom>
          <a:solidFill>
            <a:srgbClr val="0d1b2a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Text 27"/>
          <p:cNvSpPr/>
          <p:nvPr/>
        </p:nvSpPr>
        <p:spPr>
          <a:xfrm>
            <a:off x="6483240" y="108828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0b4d8"/>
                </a:solidFill>
                <a:latin typeface="Calibri"/>
                <a:ea typeface="Calibri"/>
              </a:rPr>
              <a:t>6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 28"/>
          <p:cNvSpPr/>
          <p:nvPr/>
        </p:nvSpPr>
        <p:spPr>
          <a:xfrm>
            <a:off x="6446520" y="1307520"/>
            <a:ext cx="10969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Connected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Components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 29"/>
          <p:cNvSpPr/>
          <p:nvPr/>
        </p:nvSpPr>
        <p:spPr>
          <a:xfrm>
            <a:off x="6446520" y="1691640"/>
            <a:ext cx="1096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90e0ef"/>
                </a:solidFill>
                <a:latin typeface="Calibri"/>
                <a:ea typeface="Calibri"/>
              </a:rPr>
              <a:t>Label blobs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90e0ef"/>
                </a:solidFill>
                <a:latin typeface="Calibri"/>
                <a:ea typeface="Calibri"/>
              </a:rPr>
              <a:t>filter area + AR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Shape 30"/>
          <p:cNvSpPr/>
          <p:nvPr/>
        </p:nvSpPr>
        <p:spPr>
          <a:xfrm>
            <a:off x="7561800" y="1531440"/>
            <a:ext cx="119160" cy="36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31"/>
          <p:cNvSpPr/>
          <p:nvPr/>
        </p:nvSpPr>
        <p:spPr>
          <a:xfrm>
            <a:off x="7699320" y="1051560"/>
            <a:ext cx="1096920" cy="959760"/>
          </a:xfrm>
          <a:prstGeom prst="rect">
            <a:avLst/>
          </a:prstGeom>
          <a:solidFill>
            <a:srgbClr val="0077b6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Text 32"/>
          <p:cNvSpPr/>
          <p:nvPr/>
        </p:nvSpPr>
        <p:spPr>
          <a:xfrm>
            <a:off x="7735680" y="108828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0b4d8"/>
                </a:solidFill>
                <a:latin typeface="Calibri"/>
                <a:ea typeface="Calibri"/>
              </a:rPr>
              <a:t>7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33"/>
          <p:cNvSpPr/>
          <p:nvPr/>
        </p:nvSpPr>
        <p:spPr>
          <a:xfrm>
            <a:off x="7699320" y="1307520"/>
            <a:ext cx="10969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Centroid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Average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34"/>
          <p:cNvSpPr/>
          <p:nvPr/>
        </p:nvSpPr>
        <p:spPr>
          <a:xfrm>
            <a:off x="7699320" y="1691640"/>
            <a:ext cx="1096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90e0ef"/>
                </a:solidFill>
                <a:latin typeface="Calibri"/>
                <a:ea typeface="Calibri"/>
              </a:rPr>
              <a:t>Error = (cx - W/2)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90e0ef"/>
                </a:solidFill>
                <a:latin typeface="Calibri"/>
                <a:ea typeface="Calibri"/>
              </a:rPr>
              <a:t>/ (W/2)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Shape 35"/>
          <p:cNvSpPr/>
          <p:nvPr/>
        </p:nvSpPr>
        <p:spPr>
          <a:xfrm>
            <a:off x="457200" y="2331720"/>
            <a:ext cx="8229240" cy="10054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Shape 36"/>
          <p:cNvSpPr/>
          <p:nvPr/>
        </p:nvSpPr>
        <p:spPr>
          <a:xfrm>
            <a:off x="457200" y="2331720"/>
            <a:ext cx="63720" cy="100548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Text 37"/>
          <p:cNvSpPr/>
          <p:nvPr/>
        </p:nvSpPr>
        <p:spPr>
          <a:xfrm>
            <a:off x="658440" y="2423160"/>
            <a:ext cx="7772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077b6"/>
                </a:solidFill>
                <a:latin typeface="Calibri"/>
                <a:ea typeface="Calibri"/>
              </a:rPr>
              <a:t>Why Connected Components + Moments?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 38"/>
          <p:cNvSpPr/>
          <p:nvPr/>
        </p:nvSpPr>
        <p:spPr>
          <a:xfrm>
            <a:off x="658440" y="2743200"/>
            <a:ext cx="7772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334155"/>
                </a:solidFill>
                <a:latin typeface="Calibri"/>
                <a:ea typeface="Calibri"/>
              </a:rPr>
              <a:t>Each black line becomes a labeled blob. Area and aspect-ratio filters reject floor noise and crosswalk dashes automatically (dashes are wide + short; track lines are tall + narrow in the ROI). </a:t>
            </a:r>
            <a:r>
              <a:rPr b="1" lang="en-US" sz="1250" spc="-1" strike="noStrike">
                <a:solidFill>
                  <a:srgbClr val="334155"/>
                </a:solidFill>
                <a:latin typeface="Calibri"/>
                <a:ea typeface="Calibri"/>
              </a:rPr>
              <a:t>Averaging the 3 centroids gives a stable center error signal</a:t>
            </a:r>
            <a:r>
              <a:rPr b="0" lang="en-US" sz="1250" spc="-1" strike="noStrike">
                <a:solidFill>
                  <a:srgbClr val="334155"/>
                </a:solidFill>
                <a:latin typeface="Calibri"/>
                <a:ea typeface="Calibri"/>
              </a:rPr>
              <a:t> that is robust to partially visible lines.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Shape 39"/>
          <p:cNvSpPr/>
          <p:nvPr/>
        </p:nvSpPr>
        <p:spPr>
          <a:xfrm>
            <a:off x="457200" y="3520440"/>
            <a:ext cx="8229240" cy="1279800"/>
          </a:xfrm>
          <a:prstGeom prst="rect">
            <a:avLst/>
          </a:prstGeom>
          <a:solidFill>
            <a:srgbClr val="0d1b2a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Text 40"/>
          <p:cNvSpPr/>
          <p:nvPr/>
        </p:nvSpPr>
        <p:spPr>
          <a:xfrm>
            <a:off x="548640" y="3657600"/>
            <a:ext cx="8046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00b4d8"/>
                </a:solidFill>
                <a:latin typeface="Consolas"/>
                <a:ea typeface="Consolas"/>
              </a:rPr>
              <a:t>Control Error  =  ( cx_avg  −  W / 2 )  /  ( W / 2 )     ∈  [ −1 , +1 ]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 41"/>
          <p:cNvSpPr/>
          <p:nvPr/>
        </p:nvSpPr>
        <p:spPr>
          <a:xfrm>
            <a:off x="548640" y="4160520"/>
            <a:ext cx="8046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0e0ef"/>
                </a:solidFill>
                <a:latin typeface="Calibri"/>
                <a:ea typeface="Calibri"/>
              </a:rPr>
              <a:t>−</a:t>
            </a:r>
            <a:r>
              <a:rPr b="0" lang="en-US" sz="1200" spc="-1" strike="noStrike">
                <a:solidFill>
                  <a:srgbClr val="90e0ef"/>
                </a:solidFill>
                <a:latin typeface="Calibri"/>
                <a:ea typeface="Calibri"/>
              </a:rPr>
              <a:t>1 = line far left   |   0 = centered   |   +1 = line far right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 0"/>
          <p:cNvSpPr/>
          <p:nvPr/>
        </p:nvSpPr>
        <p:spPr>
          <a:xfrm>
            <a:off x="457200" y="25596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d1b2a"/>
                </a:solidFill>
                <a:latin typeface="Calibri"/>
                <a:ea typeface="Calibri"/>
              </a:rPr>
              <a:t>Controller &amp; Traffic Light Integration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Shape 1"/>
          <p:cNvSpPr/>
          <p:nvPr/>
        </p:nvSpPr>
        <p:spPr>
          <a:xfrm>
            <a:off x="457200" y="960120"/>
            <a:ext cx="4023000" cy="38401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Shape 2"/>
          <p:cNvSpPr/>
          <p:nvPr/>
        </p:nvSpPr>
        <p:spPr>
          <a:xfrm>
            <a:off x="457200" y="960120"/>
            <a:ext cx="63720" cy="3840120"/>
          </a:xfrm>
          <a:prstGeom prst="rect">
            <a:avLst/>
          </a:prstGeom>
          <a:solidFill>
            <a:srgbClr val="0077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Text 3"/>
          <p:cNvSpPr/>
          <p:nvPr/>
        </p:nvSpPr>
        <p:spPr>
          <a:xfrm>
            <a:off x="658440" y="107892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077b6"/>
                </a:solidFill>
                <a:latin typeface="Calibri"/>
                <a:ea typeface="Calibri"/>
              </a:rPr>
              <a:t>PID Line Controller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Shape 4"/>
          <p:cNvSpPr/>
          <p:nvPr/>
        </p:nvSpPr>
        <p:spPr>
          <a:xfrm>
            <a:off x="594360" y="1481400"/>
            <a:ext cx="3748680" cy="65808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Text 5"/>
          <p:cNvSpPr/>
          <p:nvPr/>
        </p:nvSpPr>
        <p:spPr>
          <a:xfrm>
            <a:off x="594360" y="1481400"/>
            <a:ext cx="3748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00b4d8"/>
                </a:solidFill>
                <a:latin typeface="Consolas"/>
                <a:ea typeface="Consolas"/>
              </a:rPr>
              <a:t>ω  =  Kp · error  +  Ki · ∫error  +  Kd · Δerror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6"/>
          <p:cNvSpPr/>
          <p:nvPr/>
        </p:nvSpPr>
        <p:spPr>
          <a:xfrm>
            <a:off x="594360" y="1847160"/>
            <a:ext cx="3748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50760" bIns="5076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90e0ef"/>
                </a:solidFill>
                <a:latin typeface="Consolas"/>
                <a:ea typeface="Consolas"/>
              </a:rPr>
              <a:t>v  =  v_base · ( 1  −  factor · | error | )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 7"/>
          <p:cNvSpPr/>
          <p:nvPr/>
        </p:nvSpPr>
        <p:spPr>
          <a:xfrm>
            <a:off x="658440" y="2194560"/>
            <a:ext cx="365724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334155"/>
                </a:solidFill>
                <a:latin typeface="Calibri"/>
                <a:ea typeface="Calibri"/>
              </a:rPr>
              <a:t>Angular velocity (ω) is driven by a PID on the pixel error.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334155"/>
                </a:solidFill>
                <a:latin typeface="Calibri"/>
                <a:ea typeface="Calibri"/>
              </a:rPr>
              <a:t> 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334155"/>
                </a:solidFill>
                <a:latin typeface="Calibri"/>
                <a:ea typeface="Calibri"/>
              </a:rPr>
              <a:t>Linear velocity (v) automatically reduces in curves when the error is large — no extra curve-detection logic needed.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334155"/>
                </a:solidFill>
                <a:latin typeface="Calibri"/>
                <a:ea typeface="Calibri"/>
              </a:rPr>
              <a:t> 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334155"/>
                </a:solidFill>
                <a:latin typeface="Calibri"/>
                <a:ea typeface="Calibri"/>
              </a:rPr>
              <a:t>Line lost? </a:t>
            </a:r>
            <a:r>
              <a:rPr b="0" lang="en-US" sz="1250" spc="-1" strike="noStrike">
                <a:solidFill>
                  <a:srgbClr val="334155"/>
                </a:solidFill>
                <a:latin typeface="Calibri"/>
                <a:ea typeface="Calibri"/>
              </a:rPr>
              <a:t>Hold last ω for 0.4 s, then full stop. Prevents blind driving off the track.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Shape 8"/>
          <p:cNvSpPr/>
          <p:nvPr/>
        </p:nvSpPr>
        <p:spPr>
          <a:xfrm>
            <a:off x="4754880" y="960120"/>
            <a:ext cx="3840120" cy="38401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Shape 9"/>
          <p:cNvSpPr/>
          <p:nvPr/>
        </p:nvSpPr>
        <p:spPr>
          <a:xfrm>
            <a:off x="4754880" y="960120"/>
            <a:ext cx="63720" cy="384012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Text 10"/>
          <p:cNvSpPr/>
          <p:nvPr/>
        </p:nvSpPr>
        <p:spPr>
          <a:xfrm>
            <a:off x="4956120" y="107892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077b6"/>
                </a:solidFill>
                <a:latin typeface="Calibri"/>
                <a:ea typeface="Calibri"/>
              </a:rPr>
              <a:t>Traffic Light Debounce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Shape 11"/>
          <p:cNvSpPr/>
          <p:nvPr/>
        </p:nvSpPr>
        <p:spPr>
          <a:xfrm>
            <a:off x="4919400" y="1554480"/>
            <a:ext cx="164160" cy="164160"/>
          </a:xfrm>
          <a:prstGeom prst="ellipse">
            <a:avLst/>
          </a:prstGeom>
          <a:solidFill>
            <a:srgbClr val="d6282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Text 12"/>
          <p:cNvSpPr/>
          <p:nvPr/>
        </p:nvSpPr>
        <p:spPr>
          <a:xfrm>
            <a:off x="5166360" y="1481400"/>
            <a:ext cx="7768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d62828"/>
                </a:solidFill>
                <a:latin typeface="Calibri"/>
                <a:ea typeface="Calibri"/>
              </a:rPr>
              <a:t>RED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 13"/>
          <p:cNvSpPr/>
          <p:nvPr/>
        </p:nvSpPr>
        <p:spPr>
          <a:xfrm>
            <a:off x="5166360" y="1774080"/>
            <a:ext cx="32914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34155"/>
                </a:solidFill>
                <a:latin typeface="Calibri"/>
                <a:ea typeface="Calibri"/>
              </a:rPr>
              <a:t>Full stop. Latch stays ON until green confirmed.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Shape 14"/>
          <p:cNvSpPr/>
          <p:nvPr/>
        </p:nvSpPr>
        <p:spPr>
          <a:xfrm>
            <a:off x="4919400" y="2359080"/>
            <a:ext cx="164160" cy="164160"/>
          </a:xfrm>
          <a:prstGeom prst="ellipse">
            <a:avLst/>
          </a:prstGeom>
          <a:solidFill>
            <a:srgbClr val="f4a2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 15"/>
          <p:cNvSpPr/>
          <p:nvPr/>
        </p:nvSpPr>
        <p:spPr>
          <a:xfrm>
            <a:off x="5166360" y="2286000"/>
            <a:ext cx="7768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4a261"/>
                </a:solidFill>
                <a:latin typeface="Calibri"/>
                <a:ea typeface="Calibri"/>
              </a:rPr>
              <a:t>YELLOW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 16"/>
          <p:cNvSpPr/>
          <p:nvPr/>
        </p:nvSpPr>
        <p:spPr>
          <a:xfrm>
            <a:off x="5166360" y="2578680"/>
            <a:ext cx="32914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34155"/>
                </a:solidFill>
                <a:latin typeface="Calibri"/>
                <a:ea typeface="Calibri"/>
              </a:rPr>
              <a:t>Speed scaled to 40%. Angular correction continues.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Shape 17"/>
          <p:cNvSpPr/>
          <p:nvPr/>
        </p:nvSpPr>
        <p:spPr>
          <a:xfrm>
            <a:off x="4919400" y="3163680"/>
            <a:ext cx="164160" cy="164160"/>
          </a:xfrm>
          <a:prstGeom prst="ellipse">
            <a:avLst/>
          </a:prstGeom>
          <a:solidFill>
            <a:srgbClr val="06a7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Text 18"/>
          <p:cNvSpPr/>
          <p:nvPr/>
        </p:nvSpPr>
        <p:spPr>
          <a:xfrm>
            <a:off x="5166360" y="3090600"/>
            <a:ext cx="7768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6a77d"/>
                </a:solidFill>
                <a:latin typeface="Calibri"/>
                <a:ea typeface="Calibri"/>
              </a:rPr>
              <a:t>GREEN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19"/>
          <p:cNvSpPr/>
          <p:nvPr/>
        </p:nvSpPr>
        <p:spPr>
          <a:xfrm>
            <a:off x="5166360" y="3383280"/>
            <a:ext cx="32914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34155"/>
                </a:solidFill>
                <a:latin typeface="Calibri"/>
                <a:ea typeface="Calibri"/>
              </a:rPr>
              <a:t>Normal operation. 5 consecutive frames to unlatch.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Shape 20"/>
          <p:cNvSpPr/>
          <p:nvPr/>
        </p:nvSpPr>
        <p:spPr>
          <a:xfrm>
            <a:off x="4956120" y="3931920"/>
            <a:ext cx="3520080" cy="68544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Text 21"/>
          <p:cNvSpPr/>
          <p:nvPr/>
        </p:nvSpPr>
        <p:spPr>
          <a:xfrm>
            <a:off x="5029200" y="3977640"/>
            <a:ext cx="33829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Key: </a:t>
            </a:r>
            <a:r>
              <a:rPr b="0" lang="en-US" sz="1100" spc="-1" strike="noStrike">
                <a:solidFill>
                  <a:srgbClr val="90e0ef"/>
                </a:solidFill>
                <a:latin typeface="Calibri"/>
                <a:ea typeface="Calibri"/>
              </a:rPr>
              <a:t>Requires N consecutive frames before confirming a color. Debug image shows a live progress bar.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ext 0"/>
          <p:cNvSpPr/>
          <p:nvPr/>
        </p:nvSpPr>
        <p:spPr>
          <a:xfrm>
            <a:off x="457200" y="25596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0d1b2a"/>
                </a:solidFill>
                <a:latin typeface="Calibri"/>
                <a:ea typeface="Calibri"/>
              </a:rPr>
              <a:t>Tuning &amp; Robustness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Shape 1"/>
          <p:cNvSpPr/>
          <p:nvPr/>
        </p:nvSpPr>
        <p:spPr>
          <a:xfrm>
            <a:off x="457200" y="960120"/>
            <a:ext cx="4023000" cy="38401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Shape 2"/>
          <p:cNvSpPr/>
          <p:nvPr/>
        </p:nvSpPr>
        <p:spPr>
          <a:xfrm>
            <a:off x="457200" y="960120"/>
            <a:ext cx="63720" cy="3840120"/>
          </a:xfrm>
          <a:prstGeom prst="rect">
            <a:avLst/>
          </a:prstGeom>
          <a:solidFill>
            <a:srgbClr val="0077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Text 3"/>
          <p:cNvSpPr/>
          <p:nvPr/>
        </p:nvSpPr>
        <p:spPr>
          <a:xfrm>
            <a:off x="658440" y="107892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077b6"/>
                </a:solidFill>
                <a:latin typeface="Calibri"/>
                <a:ea typeface="Calibri"/>
              </a:rPr>
              <a:t>Vision Parameters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 4"/>
          <p:cNvSpPr/>
          <p:nvPr/>
        </p:nvSpPr>
        <p:spPr>
          <a:xfrm>
            <a:off x="658440" y="1554480"/>
            <a:ext cx="1919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077b6"/>
                </a:solidFill>
                <a:latin typeface="Consolas"/>
                <a:ea typeface="Consolas"/>
              </a:rPr>
              <a:t>roi_top_ratio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Shape 5"/>
          <p:cNvSpPr/>
          <p:nvPr/>
        </p:nvSpPr>
        <p:spPr>
          <a:xfrm>
            <a:off x="2606040" y="1572840"/>
            <a:ext cx="548280" cy="25560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Text 6"/>
          <p:cNvSpPr/>
          <p:nvPr/>
        </p:nvSpPr>
        <p:spPr>
          <a:xfrm>
            <a:off x="2606040" y="1572840"/>
            <a:ext cx="548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0b4d8"/>
                </a:solidFill>
                <a:latin typeface="Consolas"/>
                <a:ea typeface="Consolas"/>
              </a:rPr>
              <a:t>0.55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 7"/>
          <p:cNvSpPr/>
          <p:nvPr/>
        </p:nvSpPr>
        <p:spPr>
          <a:xfrm>
            <a:off x="658440" y="1828800"/>
            <a:ext cx="3657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Where in the frame to look for the line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 8"/>
          <p:cNvSpPr/>
          <p:nvPr/>
        </p:nvSpPr>
        <p:spPr>
          <a:xfrm>
            <a:off x="658440" y="2176200"/>
            <a:ext cx="1919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077b6"/>
                </a:solidFill>
                <a:latin typeface="Consolas"/>
                <a:ea typeface="Consolas"/>
              </a:rPr>
              <a:t>threshold_c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Shape 9"/>
          <p:cNvSpPr/>
          <p:nvPr/>
        </p:nvSpPr>
        <p:spPr>
          <a:xfrm>
            <a:off x="2606040" y="2194560"/>
            <a:ext cx="548280" cy="25560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Text 10"/>
          <p:cNvSpPr/>
          <p:nvPr/>
        </p:nvSpPr>
        <p:spPr>
          <a:xfrm>
            <a:off x="2606040" y="2194560"/>
            <a:ext cx="548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0b4d8"/>
                </a:solidFill>
                <a:latin typeface="Consolas"/>
                <a:ea typeface="Consolas"/>
              </a:rPr>
              <a:t>8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 11"/>
          <p:cNvSpPr/>
          <p:nvPr/>
        </p:nvSpPr>
        <p:spPr>
          <a:xfrm>
            <a:off x="658440" y="2450520"/>
            <a:ext cx="3657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Most impactful single value — tune first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 12"/>
          <p:cNvSpPr/>
          <p:nvPr/>
        </p:nvSpPr>
        <p:spPr>
          <a:xfrm>
            <a:off x="658440" y="2797920"/>
            <a:ext cx="1919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077b6"/>
                </a:solidFill>
                <a:latin typeface="Consolas"/>
                <a:ea typeface="Consolas"/>
              </a:rPr>
              <a:t>min_blob_area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Shape 13"/>
          <p:cNvSpPr/>
          <p:nvPr/>
        </p:nvSpPr>
        <p:spPr>
          <a:xfrm>
            <a:off x="2606040" y="2816280"/>
            <a:ext cx="548280" cy="25560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Text 14"/>
          <p:cNvSpPr/>
          <p:nvPr/>
        </p:nvSpPr>
        <p:spPr>
          <a:xfrm>
            <a:off x="2606040" y="2816280"/>
            <a:ext cx="548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0b4d8"/>
                </a:solidFill>
                <a:latin typeface="Consolas"/>
                <a:ea typeface="Consolas"/>
              </a:rPr>
              <a:t>300 px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 15"/>
          <p:cNvSpPr/>
          <p:nvPr/>
        </p:nvSpPr>
        <p:spPr>
          <a:xfrm>
            <a:off x="658440" y="3072240"/>
            <a:ext cx="3657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Rejects small noise blobs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 16"/>
          <p:cNvSpPr/>
          <p:nvPr/>
        </p:nvSpPr>
        <p:spPr>
          <a:xfrm>
            <a:off x="658440" y="3420000"/>
            <a:ext cx="1919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077b6"/>
                </a:solidFill>
                <a:latin typeface="Consolas"/>
                <a:ea typeface="Consolas"/>
              </a:rPr>
              <a:t>min_aspect_ratio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Shape 17"/>
          <p:cNvSpPr/>
          <p:nvPr/>
        </p:nvSpPr>
        <p:spPr>
          <a:xfrm>
            <a:off x="2606040" y="3438000"/>
            <a:ext cx="548280" cy="25560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Text 18"/>
          <p:cNvSpPr/>
          <p:nvPr/>
        </p:nvSpPr>
        <p:spPr>
          <a:xfrm>
            <a:off x="2606040" y="3438000"/>
            <a:ext cx="548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0b4d8"/>
                </a:solidFill>
                <a:latin typeface="Consolas"/>
                <a:ea typeface="Consolas"/>
              </a:rPr>
              <a:t>0.8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 19"/>
          <p:cNvSpPr/>
          <p:nvPr/>
        </p:nvSpPr>
        <p:spPr>
          <a:xfrm>
            <a:off x="658440" y="3694320"/>
            <a:ext cx="3657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Rejects flat crosswalk dashes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 20"/>
          <p:cNvSpPr/>
          <p:nvPr/>
        </p:nvSpPr>
        <p:spPr>
          <a:xfrm>
            <a:off x="658440" y="4041720"/>
            <a:ext cx="1919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077b6"/>
                </a:solidFill>
                <a:latin typeface="Consolas"/>
                <a:ea typeface="Consolas"/>
              </a:rPr>
              <a:t>debounce_frames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Shape 21"/>
          <p:cNvSpPr/>
          <p:nvPr/>
        </p:nvSpPr>
        <p:spPr>
          <a:xfrm>
            <a:off x="2606040" y="4060080"/>
            <a:ext cx="548280" cy="25560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Text 22"/>
          <p:cNvSpPr/>
          <p:nvPr/>
        </p:nvSpPr>
        <p:spPr>
          <a:xfrm>
            <a:off x="2606040" y="4060080"/>
            <a:ext cx="548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0b4d8"/>
                </a:solidFill>
                <a:latin typeface="Consolas"/>
                <a:ea typeface="Consolas"/>
              </a:rPr>
              <a:t>5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 23"/>
          <p:cNvSpPr/>
          <p:nvPr/>
        </p:nvSpPr>
        <p:spPr>
          <a:xfrm>
            <a:off x="658440" y="4316040"/>
            <a:ext cx="3657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Frames before color state is confirmed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Shape 24"/>
          <p:cNvSpPr/>
          <p:nvPr/>
        </p:nvSpPr>
        <p:spPr>
          <a:xfrm>
            <a:off x="4754880" y="960120"/>
            <a:ext cx="3840120" cy="38401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Shape 25"/>
          <p:cNvSpPr/>
          <p:nvPr/>
        </p:nvSpPr>
        <p:spPr>
          <a:xfrm>
            <a:off x="4754880" y="960120"/>
            <a:ext cx="63720" cy="384012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Text 26"/>
          <p:cNvSpPr/>
          <p:nvPr/>
        </p:nvSpPr>
        <p:spPr>
          <a:xfrm>
            <a:off x="4956120" y="107892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077b6"/>
                </a:solidFill>
                <a:latin typeface="Calibri"/>
                <a:ea typeface="Calibri"/>
              </a:rPr>
              <a:t>Controller Parameters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Text 27"/>
          <p:cNvSpPr/>
          <p:nvPr/>
        </p:nvSpPr>
        <p:spPr>
          <a:xfrm>
            <a:off x="4956120" y="1554480"/>
            <a:ext cx="1919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077b6"/>
                </a:solidFill>
                <a:latin typeface="Consolas"/>
                <a:ea typeface="Consolas"/>
              </a:rPr>
              <a:t>kp_line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Shape 28"/>
          <p:cNvSpPr/>
          <p:nvPr/>
        </p:nvSpPr>
        <p:spPr>
          <a:xfrm>
            <a:off x="6903720" y="1572840"/>
            <a:ext cx="749520" cy="25560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Text 29"/>
          <p:cNvSpPr/>
          <p:nvPr/>
        </p:nvSpPr>
        <p:spPr>
          <a:xfrm>
            <a:off x="6903720" y="1572840"/>
            <a:ext cx="749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0b4d8"/>
                </a:solidFill>
                <a:latin typeface="Consolas"/>
                <a:ea typeface="Consolas"/>
              </a:rPr>
              <a:t>0.5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30"/>
          <p:cNvSpPr/>
          <p:nvPr/>
        </p:nvSpPr>
        <p:spPr>
          <a:xfrm>
            <a:off x="4956120" y="182880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Main steering gain — tune first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 31"/>
          <p:cNvSpPr/>
          <p:nvPr/>
        </p:nvSpPr>
        <p:spPr>
          <a:xfrm>
            <a:off x="4956120" y="2176200"/>
            <a:ext cx="1919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077b6"/>
                </a:solidFill>
                <a:latin typeface="Consolas"/>
                <a:ea typeface="Consolas"/>
              </a:rPr>
              <a:t>kd_line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Shape 32"/>
          <p:cNvSpPr/>
          <p:nvPr/>
        </p:nvSpPr>
        <p:spPr>
          <a:xfrm>
            <a:off x="6903720" y="2194560"/>
            <a:ext cx="749520" cy="25560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Text 33"/>
          <p:cNvSpPr/>
          <p:nvPr/>
        </p:nvSpPr>
        <p:spPr>
          <a:xfrm>
            <a:off x="6903720" y="2194560"/>
            <a:ext cx="749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0b4d8"/>
                </a:solidFill>
                <a:latin typeface="Consolas"/>
                <a:ea typeface="Consolas"/>
              </a:rPr>
              <a:t>0.05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 34"/>
          <p:cNvSpPr/>
          <p:nvPr/>
        </p:nvSpPr>
        <p:spPr>
          <a:xfrm>
            <a:off x="4956120" y="245052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Damps oscillation on straights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35"/>
          <p:cNvSpPr/>
          <p:nvPr/>
        </p:nvSpPr>
        <p:spPr>
          <a:xfrm>
            <a:off x="4956120" y="2797920"/>
            <a:ext cx="1919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077b6"/>
                </a:solidFill>
                <a:latin typeface="Consolas"/>
                <a:ea typeface="Consolas"/>
              </a:rPr>
              <a:t>v_line_base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Shape 36"/>
          <p:cNvSpPr/>
          <p:nvPr/>
        </p:nvSpPr>
        <p:spPr>
          <a:xfrm>
            <a:off x="6903720" y="2816280"/>
            <a:ext cx="749520" cy="25560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Text 37"/>
          <p:cNvSpPr/>
          <p:nvPr/>
        </p:nvSpPr>
        <p:spPr>
          <a:xfrm>
            <a:off x="6903720" y="2816280"/>
            <a:ext cx="749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0b4d8"/>
                </a:solidFill>
                <a:latin typeface="Consolas"/>
                <a:ea typeface="Consolas"/>
              </a:rPr>
              <a:t>0.10 m/s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 38"/>
          <p:cNvSpPr/>
          <p:nvPr/>
        </p:nvSpPr>
        <p:spPr>
          <a:xfrm>
            <a:off x="4956120" y="307224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Base forward speed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 39"/>
          <p:cNvSpPr/>
          <p:nvPr/>
        </p:nvSpPr>
        <p:spPr>
          <a:xfrm>
            <a:off x="4956120" y="3420000"/>
            <a:ext cx="1919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077b6"/>
                </a:solidFill>
                <a:latin typeface="Consolas"/>
                <a:ea typeface="Consolas"/>
              </a:rPr>
              <a:t>speed_curve_factor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Shape 40"/>
          <p:cNvSpPr/>
          <p:nvPr/>
        </p:nvSpPr>
        <p:spPr>
          <a:xfrm>
            <a:off x="6903720" y="3438000"/>
            <a:ext cx="749520" cy="25560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Text 41"/>
          <p:cNvSpPr/>
          <p:nvPr/>
        </p:nvSpPr>
        <p:spPr>
          <a:xfrm>
            <a:off x="6903720" y="3438000"/>
            <a:ext cx="749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0b4d8"/>
                </a:solidFill>
                <a:latin typeface="Consolas"/>
                <a:ea typeface="Consolas"/>
              </a:rPr>
              <a:t>0.5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 42"/>
          <p:cNvSpPr/>
          <p:nvPr/>
        </p:nvSpPr>
        <p:spPr>
          <a:xfrm>
            <a:off x="4956120" y="369432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Slowdown in curves: v*(1-f*|e|)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 43"/>
          <p:cNvSpPr/>
          <p:nvPr/>
        </p:nvSpPr>
        <p:spPr>
          <a:xfrm>
            <a:off x="4956120" y="4041720"/>
            <a:ext cx="1919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0077b6"/>
                </a:solidFill>
                <a:latin typeface="Consolas"/>
                <a:ea typeface="Consolas"/>
              </a:rPr>
              <a:t>line_lost_timeout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Shape 44"/>
          <p:cNvSpPr/>
          <p:nvPr/>
        </p:nvSpPr>
        <p:spPr>
          <a:xfrm>
            <a:off x="6903720" y="4060080"/>
            <a:ext cx="749520" cy="25560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Text 45"/>
          <p:cNvSpPr/>
          <p:nvPr/>
        </p:nvSpPr>
        <p:spPr>
          <a:xfrm>
            <a:off x="6903720" y="4060080"/>
            <a:ext cx="749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0b4d8"/>
                </a:solidFill>
                <a:latin typeface="Consolas"/>
                <a:ea typeface="Consolas"/>
              </a:rPr>
              <a:t>0.4 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 46"/>
          <p:cNvSpPr/>
          <p:nvPr/>
        </p:nvSpPr>
        <p:spPr>
          <a:xfrm>
            <a:off x="4956120" y="431604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Grace period at intersections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0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Text 1"/>
          <p:cNvSpPr/>
          <p:nvPr/>
        </p:nvSpPr>
        <p:spPr>
          <a:xfrm>
            <a:off x="411480" y="25596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  <a:ea typeface="Calibri"/>
              </a:rPr>
              <a:t>Results &amp; Conclusions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Shape 2"/>
          <p:cNvSpPr/>
          <p:nvPr/>
        </p:nvSpPr>
        <p:spPr>
          <a:xfrm>
            <a:off x="411480" y="960120"/>
            <a:ext cx="4114440" cy="1599840"/>
          </a:xfrm>
          <a:prstGeom prst="rect">
            <a:avLst/>
          </a:prstGeom>
          <a:solidFill>
            <a:srgbClr val="ffffff">
              <a:alpha val="8000"/>
            </a:srgbClr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Shape 3"/>
          <p:cNvSpPr/>
          <p:nvPr/>
        </p:nvSpPr>
        <p:spPr>
          <a:xfrm>
            <a:off x="411480" y="960120"/>
            <a:ext cx="63720" cy="1599840"/>
          </a:xfrm>
          <a:prstGeom prst="rect">
            <a:avLst/>
          </a:prstGeom>
          <a:solidFill>
            <a:srgbClr val="0077b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Text 4"/>
          <p:cNvSpPr/>
          <p:nvPr/>
        </p:nvSpPr>
        <p:spPr>
          <a:xfrm>
            <a:off x="576000" y="1051560"/>
            <a:ext cx="384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✓  </a:t>
            </a: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Line Following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Text 5"/>
          <p:cNvSpPr/>
          <p:nvPr/>
        </p:nvSpPr>
        <p:spPr>
          <a:xfrm>
            <a:off x="576000" y="1435680"/>
            <a:ext cx="38401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90e0ef"/>
                </a:solidFill>
                <a:latin typeface="Calibri"/>
                <a:ea typeface="Calibri"/>
              </a:rPr>
              <a:t>Robot follows 3-line track through curves and straights. Speed automatically reduces in turns proportional to error.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Shape 6"/>
          <p:cNvSpPr/>
          <p:nvPr/>
        </p:nvSpPr>
        <p:spPr>
          <a:xfrm>
            <a:off x="4709160" y="960120"/>
            <a:ext cx="4114440" cy="1599840"/>
          </a:xfrm>
          <a:prstGeom prst="rect">
            <a:avLst/>
          </a:prstGeom>
          <a:solidFill>
            <a:srgbClr val="ffffff">
              <a:alpha val="8000"/>
            </a:srgbClr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Shape 7"/>
          <p:cNvSpPr/>
          <p:nvPr/>
        </p:nvSpPr>
        <p:spPr>
          <a:xfrm>
            <a:off x="4709160" y="960120"/>
            <a:ext cx="63720" cy="159984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Text 8"/>
          <p:cNvSpPr/>
          <p:nvPr/>
        </p:nvSpPr>
        <p:spPr>
          <a:xfrm>
            <a:off x="4873680" y="1051560"/>
            <a:ext cx="384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✓  </a:t>
            </a: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Intersection Handling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Text 9"/>
          <p:cNvSpPr/>
          <p:nvPr/>
        </p:nvSpPr>
        <p:spPr>
          <a:xfrm>
            <a:off x="4873680" y="1435680"/>
            <a:ext cx="38401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90e0ef"/>
                </a:solidFill>
                <a:latin typeface="Calibri"/>
                <a:ea typeface="Calibri"/>
              </a:rPr>
              <a:t>Aspect-ratio blob filter rejects crosswalk dashes. Line-lost grace period lets the robot coast through the gap.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Shape 10"/>
          <p:cNvSpPr/>
          <p:nvPr/>
        </p:nvSpPr>
        <p:spPr>
          <a:xfrm>
            <a:off x="411480" y="2788920"/>
            <a:ext cx="4114440" cy="1599840"/>
          </a:xfrm>
          <a:prstGeom prst="rect">
            <a:avLst/>
          </a:prstGeom>
          <a:solidFill>
            <a:srgbClr val="ffffff">
              <a:alpha val="8000"/>
            </a:srgbClr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Shape 11"/>
          <p:cNvSpPr/>
          <p:nvPr/>
        </p:nvSpPr>
        <p:spPr>
          <a:xfrm>
            <a:off x="411480" y="2788920"/>
            <a:ext cx="63720" cy="1599840"/>
          </a:xfrm>
          <a:prstGeom prst="rect">
            <a:avLst/>
          </a:prstGeom>
          <a:solidFill>
            <a:srgbClr val="06a7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Text 12"/>
          <p:cNvSpPr/>
          <p:nvPr/>
        </p:nvSpPr>
        <p:spPr>
          <a:xfrm>
            <a:off x="576000" y="2880360"/>
            <a:ext cx="384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✓  </a:t>
            </a: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Traffic Light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Text 13"/>
          <p:cNvSpPr/>
          <p:nvPr/>
        </p:nvSpPr>
        <p:spPr>
          <a:xfrm>
            <a:off x="576000" y="3264480"/>
            <a:ext cx="38401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90e0ef"/>
                </a:solidFill>
                <a:latin typeface="Calibri"/>
                <a:ea typeface="Calibri"/>
              </a:rPr>
              <a:t>5-frame debounce eliminates false positives. Asymmetric latch: one red frame stops; multiple greens needed to go.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Shape 14"/>
          <p:cNvSpPr/>
          <p:nvPr/>
        </p:nvSpPr>
        <p:spPr>
          <a:xfrm>
            <a:off x="4709160" y="2788920"/>
            <a:ext cx="4114440" cy="1599840"/>
          </a:xfrm>
          <a:prstGeom prst="rect">
            <a:avLst/>
          </a:prstGeom>
          <a:solidFill>
            <a:srgbClr val="ffffff">
              <a:alpha val="8000"/>
            </a:srgbClr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Shape 15"/>
          <p:cNvSpPr/>
          <p:nvPr/>
        </p:nvSpPr>
        <p:spPr>
          <a:xfrm>
            <a:off x="4709160" y="2788920"/>
            <a:ext cx="63720" cy="1599840"/>
          </a:xfrm>
          <a:prstGeom prst="rect">
            <a:avLst/>
          </a:prstGeom>
          <a:solidFill>
            <a:srgbClr val="7b2c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Text 16"/>
          <p:cNvSpPr/>
          <p:nvPr/>
        </p:nvSpPr>
        <p:spPr>
          <a:xfrm>
            <a:off x="4873680" y="2880360"/>
            <a:ext cx="384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✓  </a:t>
            </a: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Backwards-Compatible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Text 17"/>
          <p:cNvSpPr/>
          <p:nvPr/>
        </p:nvSpPr>
        <p:spPr>
          <a:xfrm>
            <a:off x="4873680" y="3264480"/>
            <a:ext cx="38401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90e0ef"/>
                </a:solidFill>
                <a:latin typeface="Calibri"/>
                <a:ea typeface="Calibri"/>
              </a:rPr>
              <a:t>All previous MC2-MC4 modes (sequential, simultaneous, waypoints) still work — only additive changes were made.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Text 18"/>
          <p:cNvSpPr/>
          <p:nvPr/>
        </p:nvSpPr>
        <p:spPr>
          <a:xfrm>
            <a:off x="411480" y="4754880"/>
            <a:ext cx="8412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  <a:ea typeface="Calibri"/>
              </a:rPr>
              <a:t>Team 1 · REPO  —  TE3002B Mobile Robotics  —  Tecnológico de Monterrey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2026-05-23T00:37:24Z</dcterms:created>
  <dc:creator>Team 1 REPO</dc:creator>
  <dc:description/>
  <dc:language>en-US</dc:language>
  <cp:lastModifiedBy/>
  <dcterms:modified xsi:type="dcterms:W3CDTF">2026-05-22T19:17:18Z</dcterms:modified>
  <cp:revision>3</cp:revision>
  <dc:subject>PptxGenJS Presentation</dc:subject>
  <dc:title>Mini Challenge 5 - Line Following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7</vt:i4>
  </property>
  <property fmtid="{D5CDD505-2E9C-101B-9397-08002B2CF9AE}" pid="3" name="PresentationFormat">
    <vt:lpwstr>On-screen Show (16:9)</vt:lpwstr>
  </property>
  <property fmtid="{D5CDD505-2E9C-101B-9397-08002B2CF9AE}" pid="4" name="Slides">
    <vt:i4>7</vt:i4>
  </property>
</Properties>
</file>