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D"/>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sp>
      <p:sp>
        <p:nvSpPr>
          <p:cNvPr id="3" name="Text 1"/>
          <p:cNvSpPr/>
          <p:nvPr/>
        </p:nvSpPr>
        <p:spPr>
          <a:xfrm>
            <a:off x="640080" y="777240"/>
            <a:ext cx="5486400" cy="365760"/>
          </a:xfrm>
          <a:prstGeom prst="rect">
            <a:avLst/>
          </a:prstGeom>
          <a:noFill/>
          <a:ln/>
        </p:spPr>
        <p:txBody>
          <a:bodyPr wrap="square" lIns="0" tIns="0" rIns="0" bIns="0" rtlCol="0" anchor="ctr"/>
          <a:lstStyle/>
          <a:p>
            <a:pPr indent="0" marL="0">
              <a:buNone/>
            </a:pPr>
            <a:r>
              <a:rPr lang="en-US" sz="1300" b="1" spc="400" kern="0" dirty="0">
                <a:solidFill>
                  <a:srgbClr val="00B4D8"/>
                </a:solidFill>
                <a:latin typeface="Calibri" pitchFamily="34" charset="0"/>
                <a:ea typeface="Calibri" pitchFamily="34" charset="-122"/>
                <a:cs typeface="Calibri" pitchFamily="34" charset="-120"/>
              </a:rPr>
              <a:t>MINI CHALLENGE 3</a:t>
            </a:r>
            <a:endParaRPr lang="en-US" sz="1300" dirty="0"/>
          </a:p>
        </p:txBody>
      </p:sp>
      <p:sp>
        <p:nvSpPr>
          <p:cNvPr id="4" name="Text 2"/>
          <p:cNvSpPr/>
          <p:nvPr/>
        </p:nvSpPr>
        <p:spPr>
          <a:xfrm>
            <a:off x="640080" y="1188720"/>
            <a:ext cx="7772400" cy="77724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Control PID en lazo cerrado</a:t>
            </a:r>
            <a:endParaRPr lang="en-US" sz="4200" dirty="0"/>
          </a:p>
        </p:txBody>
      </p:sp>
      <p:sp>
        <p:nvSpPr>
          <p:cNvPr id="5" name="Text 3"/>
          <p:cNvSpPr/>
          <p:nvPr/>
        </p:nvSpPr>
        <p:spPr>
          <a:xfrm>
            <a:off x="640080" y="1920240"/>
            <a:ext cx="7772400" cy="548640"/>
          </a:xfrm>
          <a:prstGeom prst="rect">
            <a:avLst/>
          </a:prstGeom>
          <a:noFill/>
          <a:ln/>
        </p:spPr>
        <p:txBody>
          <a:bodyPr wrap="square" lIns="0" tIns="0" rIns="0" bIns="0" rtlCol="0" anchor="ctr"/>
          <a:lstStyle/>
          <a:p>
            <a:pPr indent="0" marL="0">
              <a:buNone/>
            </a:pPr>
            <a:r>
              <a:rPr lang="en-US" sz="2800" i="1" dirty="0">
                <a:solidFill>
                  <a:srgbClr val="CADCFC"/>
                </a:solidFill>
                <a:latin typeface="Calibri" pitchFamily="34" charset="0"/>
                <a:ea typeface="Calibri" pitchFamily="34" charset="-122"/>
                <a:cs typeface="Calibri" pitchFamily="34" charset="-120"/>
              </a:rPr>
              <a:t>para navegacion del PuzzleBot</a:t>
            </a:r>
            <a:endParaRPr lang="en-US" sz="2800" dirty="0"/>
          </a:p>
        </p:txBody>
      </p:sp>
      <p:sp>
        <p:nvSpPr>
          <p:cNvPr id="6" name="Shape 4"/>
          <p:cNvSpPr/>
          <p:nvPr/>
        </p:nvSpPr>
        <p:spPr>
          <a:xfrm>
            <a:off x="640080" y="2743200"/>
            <a:ext cx="2286000" cy="0"/>
          </a:xfrm>
          <a:prstGeom prst="line">
            <a:avLst/>
          </a:prstGeom>
          <a:noFill/>
          <a:ln w="19050">
            <a:solidFill>
              <a:srgbClr val="00B4D8"/>
            </a:solidFill>
            <a:prstDash val="solid"/>
          </a:ln>
        </p:spPr>
      </p:sp>
      <p:sp>
        <p:nvSpPr>
          <p:cNvPr id="7" name="Text 5"/>
          <p:cNvSpPr/>
          <p:nvPr/>
        </p:nvSpPr>
        <p:spPr>
          <a:xfrm>
            <a:off x="640080" y="2880360"/>
            <a:ext cx="73152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Equipo 1 - REPO</a:t>
            </a:r>
            <a:endParaRPr lang="en-US" sz="1800" dirty="0"/>
          </a:p>
        </p:txBody>
      </p:sp>
      <p:sp>
        <p:nvSpPr>
          <p:cNvPr id="8" name="Text 6"/>
          <p:cNvSpPr/>
          <p:nvPr/>
        </p:nvSpPr>
        <p:spPr>
          <a:xfrm>
            <a:off x="640080" y="3246120"/>
            <a:ext cx="7315200" cy="914400"/>
          </a:xfrm>
          <a:prstGeom prst="rect">
            <a:avLst/>
          </a:prstGeom>
          <a:noFill/>
          <a:ln/>
        </p:spPr>
        <p:txBody>
          <a:bodyPr wrap="square" lIns="0" tIns="0" rIns="0" bIns="0" rtlCol="0" anchor="ctr"/>
          <a:lstStyle/>
          <a:p>
            <a:pPr indent="0" marL="0">
              <a:buNone/>
            </a:pPr>
            <a:r>
              <a:rPr lang="en-US" sz="1300" dirty="0">
                <a:solidFill>
                  <a:srgbClr val="B8C4D6"/>
                </a:solidFill>
                <a:latin typeface="Calibri" pitchFamily="34" charset="0"/>
                <a:ea typeface="Calibri" pitchFamily="34" charset="-122"/>
                <a:cs typeface="Calibri" pitchFamily="34" charset="-120"/>
              </a:rPr>
              <a:t>Tecnologico de Monterrey</a:t>
            </a:r>
            <a:endParaRPr lang="en-US" sz="1300" dirty="0"/>
          </a:p>
          <a:p>
            <a:pPr indent="0" marL="0">
              <a:buNone/>
            </a:pPr>
            <a:r>
              <a:rPr lang="en-US" sz="1300" dirty="0">
                <a:solidFill>
                  <a:srgbClr val="B8C4D6"/>
                </a:solidFill>
                <a:latin typeface="Calibri" pitchFamily="34" charset="0"/>
                <a:ea typeface="Calibri" pitchFamily="34" charset="-122"/>
                <a:cs typeface="Calibri" pitchFamily="34" charset="-120"/>
              </a:rPr>
              <a:t>Robotica Movil - TE3002B</a:t>
            </a:r>
            <a:endParaRPr lang="en-US" sz="1300" dirty="0"/>
          </a:p>
          <a:p>
            <a:pPr indent="0" marL="0">
              <a:buNone/>
            </a:pPr>
            <a:r>
              <a:rPr lang="en-US" sz="1300" dirty="0">
                <a:solidFill>
                  <a:srgbClr val="B8C4D6"/>
                </a:solidFill>
                <a:latin typeface="Calibri" pitchFamily="34" charset="0"/>
                <a:ea typeface="Calibri" pitchFamily="34" charset="-122"/>
                <a:cs typeface="Calibri" pitchFamily="34" charset="-120"/>
              </a:rPr>
              <a:t>Manchester Robotics</a:t>
            </a:r>
            <a:endParaRPr lang="en-US" sz="1300" dirty="0"/>
          </a:p>
        </p:txBody>
      </p:sp>
      <p:pic>
        <p:nvPicPr>
          <p:cNvPr id="9" name="Image 0" descr="preencoded.png">    </p:cNvPr>
          <p:cNvPicPr>
            <a:picLocks noChangeAspect="1"/>
          </p:cNvPicPr>
          <p:nvPr/>
        </p:nvPicPr>
        <p:blipFill>
          <a:blip r:embed="rId1"/>
          <a:stretch>
            <a:fillRect/>
          </a:stretch>
        </p:blipFill>
        <p:spPr>
          <a:xfrm>
            <a:off x="7315200" y="1371600"/>
            <a:ext cx="1463040" cy="1463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4864" cy="502920"/>
          </a:xfrm>
          <a:prstGeom prst="rect">
            <a:avLst/>
          </a:prstGeom>
          <a:solidFill>
            <a:srgbClr val="00B4D8"/>
          </a:solidFill>
          <a:ln w="12700">
            <a:solidFill>
              <a:srgbClr val="00B4D8"/>
            </a:solidFill>
            <a:prstDash val="solid"/>
          </a:ln>
        </p:spPr>
      </p:sp>
      <p:sp>
        <p:nvSpPr>
          <p:cNvPr id="3" name="Text 1"/>
          <p:cNvSpPr/>
          <p:nvPr/>
        </p:nvSpPr>
        <p:spPr>
          <a:xfrm>
            <a:off x="640080" y="320040"/>
            <a:ext cx="8229600" cy="640080"/>
          </a:xfrm>
          <a:prstGeom prst="rect">
            <a:avLst/>
          </a:prstGeom>
          <a:noFill/>
          <a:ln/>
        </p:spPr>
        <p:txBody>
          <a:bodyPr wrap="square" lIns="0" tIns="0" rIns="0" bIns="0" rtlCol="0" anchor="ctr"/>
          <a:lstStyle/>
          <a:p>
            <a:pPr indent="0" marL="0">
              <a:buNone/>
            </a:pPr>
            <a:r>
              <a:rPr lang="en-US" sz="2600" b="1" dirty="0">
                <a:solidFill>
                  <a:srgbClr val="1A2332"/>
                </a:solidFill>
                <a:latin typeface="Calibri" pitchFamily="34" charset="0"/>
                <a:ea typeface="Calibri" pitchFamily="34" charset="-122"/>
                <a:cs typeface="Calibri" pitchFamily="34" charset="-120"/>
              </a:rPr>
              <a:t>Objetivos del reto</a:t>
            </a:r>
            <a:endParaRPr lang="en-US" sz="2600" dirty="0"/>
          </a:p>
        </p:txBody>
      </p:sp>
      <p:sp>
        <p:nvSpPr>
          <p:cNvPr id="4" name="Shape 2"/>
          <p:cNvSpPr/>
          <p:nvPr/>
        </p:nvSpPr>
        <p:spPr>
          <a:xfrm>
            <a:off x="502920" y="1143000"/>
            <a:ext cx="4023360" cy="3520440"/>
          </a:xfrm>
          <a:prstGeom prst="rect">
            <a:avLst/>
          </a:prstGeom>
          <a:solidFill>
            <a:srgbClr val="F4F7FA"/>
          </a:solidFill>
          <a:ln w="9525">
            <a:solidFill>
              <a:srgbClr val="E5E9EE"/>
            </a:solidFill>
            <a:prstDash val="solid"/>
          </a:ln>
        </p:spPr>
      </p:sp>
      <p:sp>
        <p:nvSpPr>
          <p:cNvPr id="5" name="Shape 3"/>
          <p:cNvSpPr/>
          <p:nvPr/>
        </p:nvSpPr>
        <p:spPr>
          <a:xfrm>
            <a:off x="502920" y="1143000"/>
            <a:ext cx="4023360" cy="502920"/>
          </a:xfrm>
          <a:prstGeom prst="rect">
            <a:avLst/>
          </a:prstGeom>
          <a:solidFill>
            <a:srgbClr val="0077B6"/>
          </a:solidFill>
          <a:ln w="12700">
            <a:solidFill>
              <a:srgbClr val="0077B6"/>
            </a:solidFill>
            <a:prstDash val="solid"/>
          </a:ln>
        </p:spPr>
      </p:sp>
      <p:sp>
        <p:nvSpPr>
          <p:cNvPr id="6" name="Text 4"/>
          <p:cNvSpPr/>
          <p:nvPr/>
        </p:nvSpPr>
        <p:spPr>
          <a:xfrm>
            <a:off x="640080" y="1161288"/>
            <a:ext cx="3657600" cy="457200"/>
          </a:xfrm>
          <a:prstGeom prst="rect">
            <a:avLst/>
          </a:prstGeom>
          <a:noFill/>
          <a:ln/>
        </p:spPr>
        <p:txBody>
          <a:bodyPr wrap="square" lIns="0" tIns="0" rIns="0" bIns="0"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PARTE 1</a:t>
            </a:r>
            <a:endParaRPr lang="en-US" sz="1400" dirty="0"/>
          </a:p>
        </p:txBody>
      </p:sp>
      <p:sp>
        <p:nvSpPr>
          <p:cNvPr id="7" name="Text 5"/>
          <p:cNvSpPr/>
          <p:nvPr/>
        </p:nvSpPr>
        <p:spPr>
          <a:xfrm>
            <a:off x="640080" y="1755648"/>
            <a:ext cx="3749040" cy="365760"/>
          </a:xfrm>
          <a:prstGeom prst="rect">
            <a:avLst/>
          </a:prstGeom>
          <a:noFill/>
          <a:ln/>
        </p:spPr>
        <p:txBody>
          <a:bodyPr wrap="square" lIns="0" tIns="0" rIns="0" bIns="0" rtlCol="0" anchor="ctr"/>
          <a:lstStyle/>
          <a:p>
            <a:pPr indent="0" marL="0">
              <a:buNone/>
            </a:pPr>
            <a:r>
              <a:rPr lang="en-US" sz="1700" b="1" dirty="0">
                <a:solidFill>
                  <a:srgbClr val="1A2332"/>
                </a:solidFill>
                <a:latin typeface="Calibri" pitchFamily="34" charset="0"/>
                <a:ea typeface="Calibri" pitchFamily="34" charset="-122"/>
                <a:cs typeface="Calibri" pitchFamily="34" charset="-120"/>
              </a:rPr>
              <a:t>Trazado cuadrado de 2 m</a:t>
            </a:r>
            <a:endParaRPr lang="en-US" sz="1700" dirty="0"/>
          </a:p>
        </p:txBody>
      </p:sp>
      <p:sp>
        <p:nvSpPr>
          <p:cNvPr id="8" name="Text 6"/>
          <p:cNvSpPr/>
          <p:nvPr/>
        </p:nvSpPr>
        <p:spPr>
          <a:xfrm>
            <a:off x="685800" y="2194560"/>
            <a:ext cx="3703320" cy="237744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A2332"/>
                </a:solidFill>
                <a:latin typeface="Calibri" pitchFamily="34" charset="0"/>
                <a:ea typeface="Calibri" pitchFamily="34" charset="-122"/>
                <a:cs typeface="Calibri" pitchFamily="34" charset="-120"/>
              </a:rPr>
              <a:t>Implementar un controlador PID en lazo cerrado.</a:t>
            </a:r>
            <a:endParaRPr lang="en-US" sz="1150" dirty="0"/>
          </a:p>
          <a:p>
            <a:pPr marL="342900" indent="-342900">
              <a:spcAft>
                <a:spcPts val="400"/>
              </a:spcAft>
              <a:buSzPct val="100000"/>
              <a:buChar char="•"/>
            </a:pPr>
            <a:r>
              <a:rPr lang="en-US" sz="1150" dirty="0">
                <a:solidFill>
                  <a:srgbClr val="1A2332"/>
                </a:solidFill>
                <a:latin typeface="Calibri" pitchFamily="34" charset="0"/>
                <a:ea typeface="Calibri" pitchFamily="34" charset="-122"/>
                <a:cs typeface="Calibri" pitchFamily="34" charset="-120"/>
              </a:rPr>
              <a:t>Recorrer el perimetro de un cuadrado de 2 m por lado.</a:t>
            </a:r>
            <a:endParaRPr lang="en-US" sz="1150" dirty="0"/>
          </a:p>
          <a:p>
            <a:pPr marL="342900" indent="-342900">
              <a:spcAft>
                <a:spcPts val="400"/>
              </a:spcAft>
              <a:buSzPct val="100000"/>
              <a:buChar char="•"/>
            </a:pPr>
            <a:r>
              <a:rPr lang="en-US" sz="1150" dirty="0">
                <a:solidFill>
                  <a:srgbClr val="1A2332"/>
                </a:solidFill>
                <a:latin typeface="Calibri" pitchFamily="34" charset="0"/>
                <a:ea typeface="Calibri" pitchFamily="34" charset="-122"/>
                <a:cs typeface="Calibri" pitchFamily="34" charset="-120"/>
              </a:rPr>
              <a:t>Pose inicial fijada en (0, 0, 0).</a:t>
            </a:r>
            <a:endParaRPr lang="en-US" sz="1150" dirty="0"/>
          </a:p>
          <a:p>
            <a:pPr marL="342900" indent="-342900">
              <a:spcAft>
                <a:spcPts val="400"/>
              </a:spcAft>
              <a:buSzPct val="100000"/>
              <a:buChar char="•"/>
            </a:pPr>
            <a:r>
              <a:rPr lang="en-US" sz="1150" dirty="0">
                <a:solidFill>
                  <a:srgbClr val="1A2332"/>
                </a:solidFill>
                <a:latin typeface="Calibri" pitchFamily="34" charset="0"/>
                <a:ea typeface="Calibri" pitchFamily="34" charset="-122"/>
                <a:cs typeface="Calibri" pitchFamily="34" charset="-120"/>
              </a:rPr>
              <a:t>Documentar la sintonizacion del controlador.</a:t>
            </a:r>
            <a:endParaRPr lang="en-US" sz="1150" dirty="0"/>
          </a:p>
          <a:p>
            <a:pPr marL="342900" indent="-342900">
              <a:spcAft>
                <a:spcPts val="400"/>
              </a:spcAft>
              <a:buSzPct val="100000"/>
              <a:buChar char="•"/>
            </a:pPr>
            <a:r>
              <a:rPr lang="en-US" sz="1150" dirty="0">
                <a:solidFill>
                  <a:srgbClr val="1A2332"/>
                </a:solidFill>
                <a:latin typeface="Calibri" pitchFamily="34" charset="0"/>
                <a:ea typeface="Calibri" pitchFamily="34" charset="-122"/>
                <a:cs typeface="Calibri" pitchFamily="34" charset="-120"/>
              </a:rPr>
              <a:t>Identificar las perturbaciones compensadas.</a:t>
            </a:r>
            <a:endParaRPr lang="en-US" sz="1150" dirty="0"/>
          </a:p>
          <a:p>
            <a:pPr marL="342900" indent="-342900">
              <a:spcAft>
                <a:spcPts val="400"/>
              </a:spcAft>
              <a:buSzPct val="100000"/>
              <a:buChar char="•"/>
            </a:pPr>
            <a:r>
              <a:rPr lang="en-US" sz="1150" dirty="0">
                <a:solidFill>
                  <a:srgbClr val="1A2332"/>
                </a:solidFill>
                <a:latin typeface="Calibri" pitchFamily="34" charset="0"/>
                <a:ea typeface="Calibri" pitchFamily="34" charset="-122"/>
                <a:cs typeface="Calibri" pitchFamily="34" charset="-120"/>
              </a:rPr>
              <a:t>Justificar criterios de robustez.</a:t>
            </a:r>
            <a:endParaRPr lang="en-US" sz="1150" dirty="0"/>
          </a:p>
        </p:txBody>
      </p:sp>
      <p:sp>
        <p:nvSpPr>
          <p:cNvPr id="9" name="Shape 7"/>
          <p:cNvSpPr/>
          <p:nvPr/>
        </p:nvSpPr>
        <p:spPr>
          <a:xfrm>
            <a:off x="4617720" y="1143000"/>
            <a:ext cx="4023360" cy="3520440"/>
          </a:xfrm>
          <a:prstGeom prst="rect">
            <a:avLst/>
          </a:prstGeom>
          <a:solidFill>
            <a:srgbClr val="F4F7FA"/>
          </a:solidFill>
          <a:ln w="9525">
            <a:solidFill>
              <a:srgbClr val="E5E9EE"/>
            </a:solidFill>
            <a:prstDash val="solid"/>
          </a:ln>
        </p:spPr>
      </p:sp>
      <p:sp>
        <p:nvSpPr>
          <p:cNvPr id="10" name="Shape 8"/>
          <p:cNvSpPr/>
          <p:nvPr/>
        </p:nvSpPr>
        <p:spPr>
          <a:xfrm>
            <a:off x="4617720" y="1143000"/>
            <a:ext cx="4023360" cy="502920"/>
          </a:xfrm>
          <a:prstGeom prst="rect">
            <a:avLst/>
          </a:prstGeom>
          <a:solidFill>
            <a:srgbClr val="00B4D8"/>
          </a:solidFill>
          <a:ln w="12700">
            <a:solidFill>
              <a:srgbClr val="00B4D8"/>
            </a:solidFill>
            <a:prstDash val="solid"/>
          </a:ln>
        </p:spPr>
      </p:sp>
      <p:sp>
        <p:nvSpPr>
          <p:cNvPr id="11" name="Text 9"/>
          <p:cNvSpPr/>
          <p:nvPr/>
        </p:nvSpPr>
        <p:spPr>
          <a:xfrm>
            <a:off x="4754880" y="1161288"/>
            <a:ext cx="3657600" cy="457200"/>
          </a:xfrm>
          <a:prstGeom prst="rect">
            <a:avLst/>
          </a:prstGeom>
          <a:noFill/>
          <a:ln/>
        </p:spPr>
        <p:txBody>
          <a:bodyPr wrap="square" lIns="0" tIns="0" rIns="0" bIns="0"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PARTE 2</a:t>
            </a:r>
            <a:endParaRPr lang="en-US" sz="1400" dirty="0"/>
          </a:p>
        </p:txBody>
      </p:sp>
      <p:sp>
        <p:nvSpPr>
          <p:cNvPr id="12" name="Text 10"/>
          <p:cNvSpPr/>
          <p:nvPr/>
        </p:nvSpPr>
        <p:spPr>
          <a:xfrm>
            <a:off x="4754880" y="1755648"/>
            <a:ext cx="3749040" cy="365760"/>
          </a:xfrm>
          <a:prstGeom prst="rect">
            <a:avLst/>
          </a:prstGeom>
          <a:noFill/>
          <a:ln/>
        </p:spPr>
        <p:txBody>
          <a:bodyPr wrap="square" lIns="0" tIns="0" rIns="0" bIns="0" rtlCol="0" anchor="ctr"/>
          <a:lstStyle/>
          <a:p>
            <a:pPr indent="0" marL="0">
              <a:buNone/>
            </a:pPr>
            <a:r>
              <a:rPr lang="en-US" sz="1700" b="1" dirty="0">
                <a:solidFill>
                  <a:srgbClr val="1A2332"/>
                </a:solidFill>
                <a:latin typeface="Calibri" pitchFamily="34" charset="0"/>
                <a:ea typeface="Calibri" pitchFamily="34" charset="-122"/>
                <a:cs typeface="Calibri" pitchFamily="34" charset="-120"/>
              </a:rPr>
              <a:t>Trayectoria con waypoints</a:t>
            </a:r>
            <a:endParaRPr lang="en-US" sz="1700" dirty="0"/>
          </a:p>
        </p:txBody>
      </p:sp>
      <p:sp>
        <p:nvSpPr>
          <p:cNvPr id="13" name="Text 11"/>
          <p:cNvSpPr/>
          <p:nvPr/>
        </p:nvSpPr>
        <p:spPr>
          <a:xfrm>
            <a:off x="4754880" y="2194560"/>
            <a:ext cx="3749040" cy="237744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A2332"/>
                </a:solidFill>
                <a:latin typeface="Calibri" pitchFamily="34" charset="0"/>
                <a:ea typeface="Calibri" pitchFamily="34" charset="-122"/>
                <a:cs typeface="Calibri" pitchFamily="34" charset="-120"/>
              </a:rPr>
              <a:t>Crear un nodo Path Generator independiente.</a:t>
            </a:r>
            <a:endParaRPr lang="en-US" sz="1150" dirty="0"/>
          </a:p>
          <a:p>
            <a:pPr marL="342900" indent="-342900">
              <a:spcAft>
                <a:spcPts val="400"/>
              </a:spcAft>
              <a:buSzPct val="100000"/>
              <a:buChar char="•"/>
            </a:pPr>
            <a:r>
              <a:rPr lang="en-US" sz="1150" dirty="0">
                <a:solidFill>
                  <a:srgbClr val="1A2332"/>
                </a:solidFill>
                <a:latin typeface="Calibri" pitchFamily="34" charset="0"/>
                <a:ea typeface="Calibri" pitchFamily="34" charset="-122"/>
                <a:cs typeface="Calibri" pitchFamily="34" charset="-120"/>
              </a:rPr>
              <a:t>Visitar al menos 3 waypoints distintos del inicial.</a:t>
            </a:r>
            <a:endParaRPr lang="en-US" sz="1150" dirty="0"/>
          </a:p>
          <a:p>
            <a:pPr marL="342900" indent="-342900">
              <a:spcAft>
                <a:spcPts val="400"/>
              </a:spcAft>
              <a:buSzPct val="100000"/>
              <a:buChar char="•"/>
            </a:pPr>
            <a:r>
              <a:rPr lang="en-US" sz="1150" dirty="0">
                <a:solidFill>
                  <a:srgbClr val="1A2332"/>
                </a:solidFill>
                <a:latin typeface="Calibri" pitchFamily="34" charset="0"/>
                <a:ea typeface="Calibri" pitchFamily="34" charset="-122"/>
                <a:cs typeface="Calibri" pitchFamily="34" charset="-120"/>
              </a:rPr>
              <a:t>Validar que cada waypoint sea alcanzable.</a:t>
            </a:r>
            <a:endParaRPr lang="en-US" sz="1150" dirty="0"/>
          </a:p>
          <a:p>
            <a:pPr marL="342900" indent="-342900">
              <a:spcAft>
                <a:spcPts val="400"/>
              </a:spcAft>
              <a:buSzPct val="100000"/>
              <a:buChar char="•"/>
            </a:pPr>
            <a:r>
              <a:rPr lang="en-US" sz="1150" dirty="0">
                <a:solidFill>
                  <a:srgbClr val="1A2332"/>
                </a:solidFill>
                <a:latin typeface="Calibri" pitchFamily="34" charset="0"/>
                <a:ea typeface="Calibri" pitchFamily="34" charset="-122"/>
                <a:cs typeface="Calibri" pitchFamily="34" charset="-120"/>
              </a:rPr>
              <a:t>Mensaje custom basado en geometry_msgs/Pose.</a:t>
            </a:r>
            <a:endParaRPr lang="en-US" sz="1150" dirty="0"/>
          </a:p>
          <a:p>
            <a:pPr marL="342900" indent="-342900">
              <a:spcAft>
                <a:spcPts val="400"/>
              </a:spcAft>
              <a:buSzPct val="100000"/>
              <a:buChar char="•"/>
            </a:pPr>
            <a:r>
              <a:rPr lang="en-US" sz="1150" dirty="0">
                <a:solidFill>
                  <a:srgbClr val="1A2332"/>
                </a:solidFill>
                <a:latin typeface="Calibri" pitchFamily="34" charset="0"/>
                <a:ea typeface="Calibri" pitchFamily="34" charset="-122"/>
                <a:cs typeface="Calibri" pitchFamily="34" charset="-120"/>
              </a:rPr>
              <a:t>Publicar el siguiente goal solo al confirmar el actual.</a:t>
            </a:r>
            <a:endParaRPr lang="en-US" sz="1150" dirty="0"/>
          </a:p>
          <a:p>
            <a:pPr marL="342900" indent="-342900">
              <a:spcAft>
                <a:spcPts val="400"/>
              </a:spcAft>
              <a:buSzPct val="100000"/>
              <a:buChar char="•"/>
            </a:pPr>
            <a:r>
              <a:rPr lang="en-US" sz="1150" dirty="0">
                <a:solidFill>
                  <a:srgbClr val="1A2332"/>
                </a:solidFill>
                <a:latin typeface="Calibri" pitchFamily="34" charset="0"/>
                <a:ea typeface="Calibri" pitchFamily="34" charset="-122"/>
                <a:cs typeface="Calibri" pitchFamily="34" charset="-120"/>
              </a:rPr>
              <a:t>Mantener los criterios de robustez.</a:t>
            </a:r>
            <a:endParaRPr lang="en-US" sz="1150" dirty="0"/>
          </a:p>
        </p:txBody>
      </p:sp>
      <p:sp>
        <p:nvSpPr>
          <p:cNvPr id="14" name="Text 12"/>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Equipo 1 - REPO    |    Mini Challenge 3 - PuzzleBot</a:t>
            </a:r>
            <a:endParaRPr lang="en-US" sz="900" dirty="0"/>
          </a:p>
        </p:txBody>
      </p:sp>
      <p:sp>
        <p:nvSpPr>
          <p:cNvPr id="15" name="Text 13"/>
          <p:cNvSpPr/>
          <p:nvPr/>
        </p:nvSpPr>
        <p:spPr>
          <a:xfrm>
            <a:off x="8412480" y="4846320"/>
            <a:ext cx="36576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4864" cy="502920"/>
          </a:xfrm>
          <a:prstGeom prst="rect">
            <a:avLst/>
          </a:prstGeom>
          <a:solidFill>
            <a:srgbClr val="00B4D8"/>
          </a:solidFill>
          <a:ln w="12700">
            <a:solidFill>
              <a:srgbClr val="00B4D8"/>
            </a:solidFill>
            <a:prstDash val="solid"/>
          </a:ln>
        </p:spPr>
      </p:sp>
      <p:sp>
        <p:nvSpPr>
          <p:cNvPr id="3" name="Text 1"/>
          <p:cNvSpPr/>
          <p:nvPr/>
        </p:nvSpPr>
        <p:spPr>
          <a:xfrm>
            <a:off x="640080" y="320040"/>
            <a:ext cx="8229600" cy="640080"/>
          </a:xfrm>
          <a:prstGeom prst="rect">
            <a:avLst/>
          </a:prstGeom>
          <a:noFill/>
          <a:ln/>
        </p:spPr>
        <p:txBody>
          <a:bodyPr wrap="square" lIns="0" tIns="0" rIns="0" bIns="0" rtlCol="0" anchor="ctr"/>
          <a:lstStyle/>
          <a:p>
            <a:pPr indent="0" marL="0">
              <a:buNone/>
            </a:pPr>
            <a:r>
              <a:rPr lang="en-US" sz="2600" b="1" dirty="0">
                <a:solidFill>
                  <a:srgbClr val="1A2332"/>
                </a:solidFill>
                <a:latin typeface="Calibri" pitchFamily="34" charset="0"/>
                <a:ea typeface="Calibri" pitchFamily="34" charset="-122"/>
                <a:cs typeface="Calibri" pitchFamily="34" charset="-120"/>
              </a:rPr>
              <a:t>Arquitectura del sistema</a:t>
            </a:r>
            <a:endParaRPr lang="en-US" sz="2600" dirty="0"/>
          </a:p>
        </p:txBody>
      </p:sp>
      <p:sp>
        <p:nvSpPr>
          <p:cNvPr id="4" name="Text 2"/>
          <p:cNvSpPr/>
          <p:nvPr/>
        </p:nvSpPr>
        <p:spPr>
          <a:xfrm>
            <a:off x="502920" y="1005840"/>
            <a:ext cx="8229600" cy="274320"/>
          </a:xfrm>
          <a:prstGeom prst="rect">
            <a:avLst/>
          </a:prstGeom>
          <a:noFill/>
          <a:ln/>
        </p:spPr>
        <p:txBody>
          <a:bodyPr wrap="square" lIns="0" tIns="0" rIns="0" bIns="0" rtlCol="0" anchor="ctr"/>
          <a:lstStyle/>
          <a:p>
            <a:pPr indent="0" marL="0">
              <a:buNone/>
            </a:pPr>
            <a:r>
              <a:rPr lang="en-US" sz="1200" i="1" dirty="0">
                <a:solidFill>
                  <a:srgbClr val="6B7785"/>
                </a:solidFill>
                <a:latin typeface="Calibri" pitchFamily="34" charset="0"/>
                <a:ea typeface="Calibri" pitchFamily="34" charset="-122"/>
                <a:cs typeface="Calibri" pitchFamily="34" charset="-120"/>
              </a:rPr>
              <a:t>Cinco nodos ROS 2 que cierran el lazo de control:</a:t>
            </a:r>
            <a:endParaRPr lang="en-US" sz="1200" dirty="0"/>
          </a:p>
        </p:txBody>
      </p:sp>
      <p:sp>
        <p:nvSpPr>
          <p:cNvPr id="5" name="Shape 3"/>
          <p:cNvSpPr/>
          <p:nvPr/>
        </p:nvSpPr>
        <p:spPr>
          <a:xfrm>
            <a:off x="502920" y="1554480"/>
            <a:ext cx="1371600" cy="868680"/>
          </a:xfrm>
          <a:prstGeom prst="rect">
            <a:avLst/>
          </a:prstGeom>
          <a:solidFill>
            <a:srgbClr val="0077B6"/>
          </a:solidFill>
          <a:ln w="12700">
            <a:solidFill>
              <a:srgbClr val="0077B6"/>
            </a:solidFill>
            <a:prstDash val="solid"/>
          </a:ln>
        </p:spPr>
      </p:sp>
      <p:sp>
        <p:nvSpPr>
          <p:cNvPr id="6" name="Text 4"/>
          <p:cNvSpPr/>
          <p:nvPr/>
        </p:nvSpPr>
        <p:spPr>
          <a:xfrm>
            <a:off x="548640" y="1600200"/>
            <a:ext cx="1280160"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Path</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Generator</a:t>
            </a:r>
            <a:endParaRPr lang="en-US" sz="1050" dirty="0"/>
          </a:p>
        </p:txBody>
      </p:sp>
      <p:sp>
        <p:nvSpPr>
          <p:cNvPr id="7" name="Shape 5"/>
          <p:cNvSpPr/>
          <p:nvPr/>
        </p:nvSpPr>
        <p:spPr>
          <a:xfrm>
            <a:off x="2240280" y="1554480"/>
            <a:ext cx="1371600" cy="868680"/>
          </a:xfrm>
          <a:prstGeom prst="rect">
            <a:avLst/>
          </a:prstGeom>
          <a:solidFill>
            <a:srgbClr val="0077B6"/>
          </a:solidFill>
          <a:ln w="12700">
            <a:solidFill>
              <a:srgbClr val="0077B6"/>
            </a:solidFill>
            <a:prstDash val="solid"/>
          </a:ln>
        </p:spPr>
      </p:sp>
      <p:sp>
        <p:nvSpPr>
          <p:cNvPr id="8" name="Text 6"/>
          <p:cNvSpPr/>
          <p:nvPr/>
        </p:nvSpPr>
        <p:spPr>
          <a:xfrm>
            <a:off x="2286000" y="1600200"/>
            <a:ext cx="1280160"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Controller</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(PID + FSM)</a:t>
            </a:r>
            <a:endParaRPr lang="en-US" sz="1050" dirty="0"/>
          </a:p>
        </p:txBody>
      </p:sp>
      <p:sp>
        <p:nvSpPr>
          <p:cNvPr id="9" name="Shape 7"/>
          <p:cNvSpPr/>
          <p:nvPr/>
        </p:nvSpPr>
        <p:spPr>
          <a:xfrm>
            <a:off x="3977640" y="1554480"/>
            <a:ext cx="1371600" cy="868680"/>
          </a:xfrm>
          <a:prstGeom prst="rect">
            <a:avLst/>
          </a:prstGeom>
          <a:solidFill>
            <a:srgbClr val="0077B6"/>
          </a:solidFill>
          <a:ln w="12700">
            <a:solidFill>
              <a:srgbClr val="0077B6"/>
            </a:solidFill>
            <a:prstDash val="solid"/>
          </a:ln>
        </p:spPr>
      </p:sp>
      <p:sp>
        <p:nvSpPr>
          <p:cNvPr id="10" name="Text 8"/>
          <p:cNvSpPr/>
          <p:nvPr/>
        </p:nvSpPr>
        <p:spPr>
          <a:xfrm>
            <a:off x="4023360" y="1600200"/>
            <a:ext cx="1280160"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Bridge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cmd_vel -&gt; ruedas</a:t>
            </a:r>
            <a:endParaRPr lang="en-US" sz="1050" dirty="0"/>
          </a:p>
        </p:txBody>
      </p:sp>
      <p:sp>
        <p:nvSpPr>
          <p:cNvPr id="11" name="Shape 9"/>
          <p:cNvSpPr/>
          <p:nvPr/>
        </p:nvSpPr>
        <p:spPr>
          <a:xfrm>
            <a:off x="5715000" y="1554480"/>
            <a:ext cx="1371600" cy="868680"/>
          </a:xfrm>
          <a:prstGeom prst="rect">
            <a:avLst/>
          </a:prstGeom>
          <a:solidFill>
            <a:srgbClr val="6B7785"/>
          </a:solidFill>
          <a:ln w="12700">
            <a:solidFill>
              <a:srgbClr val="6B7785"/>
            </a:solidFill>
            <a:prstDash val="solid"/>
          </a:ln>
        </p:spPr>
      </p:sp>
      <p:sp>
        <p:nvSpPr>
          <p:cNvPr id="12" name="Text 10"/>
          <p:cNvSpPr/>
          <p:nvPr/>
        </p:nvSpPr>
        <p:spPr>
          <a:xfrm>
            <a:off x="5760720" y="1600200"/>
            <a:ext cx="1280160"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Firmware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PuzzleBot</a:t>
            </a:r>
            <a:endParaRPr lang="en-US" sz="1050" dirty="0"/>
          </a:p>
        </p:txBody>
      </p:sp>
      <p:sp>
        <p:nvSpPr>
          <p:cNvPr id="13" name="Shape 11"/>
          <p:cNvSpPr/>
          <p:nvPr/>
        </p:nvSpPr>
        <p:spPr>
          <a:xfrm>
            <a:off x="7452360" y="1554480"/>
            <a:ext cx="1371600" cy="868680"/>
          </a:xfrm>
          <a:prstGeom prst="rect">
            <a:avLst/>
          </a:prstGeom>
          <a:solidFill>
            <a:srgbClr val="0077B6"/>
          </a:solidFill>
          <a:ln w="12700">
            <a:solidFill>
              <a:srgbClr val="0077B6"/>
            </a:solidFill>
            <a:prstDash val="solid"/>
          </a:ln>
        </p:spPr>
      </p:sp>
      <p:sp>
        <p:nvSpPr>
          <p:cNvPr id="14" name="Text 12"/>
          <p:cNvSpPr/>
          <p:nvPr/>
        </p:nvSpPr>
        <p:spPr>
          <a:xfrm>
            <a:off x="7498080" y="1600200"/>
            <a:ext cx="1280160"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Odometry</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(integra encoders)</a:t>
            </a:r>
            <a:endParaRPr lang="en-US" sz="1050" dirty="0"/>
          </a:p>
        </p:txBody>
      </p:sp>
      <p:sp>
        <p:nvSpPr>
          <p:cNvPr id="15" name="Shape 13"/>
          <p:cNvSpPr/>
          <p:nvPr/>
        </p:nvSpPr>
        <p:spPr>
          <a:xfrm>
            <a:off x="1874520" y="1988820"/>
            <a:ext cx="365760" cy="0"/>
          </a:xfrm>
          <a:prstGeom prst="line">
            <a:avLst/>
          </a:prstGeom>
          <a:noFill/>
          <a:ln w="19050">
            <a:solidFill>
              <a:srgbClr val="1A2332"/>
            </a:solidFill>
            <a:prstDash val="solid"/>
            <a:tailEnd type="triangle"/>
          </a:ln>
        </p:spPr>
      </p:sp>
      <p:sp>
        <p:nvSpPr>
          <p:cNvPr id="16" name="Shape 14"/>
          <p:cNvSpPr/>
          <p:nvPr/>
        </p:nvSpPr>
        <p:spPr>
          <a:xfrm>
            <a:off x="3611880" y="1988820"/>
            <a:ext cx="365760" cy="0"/>
          </a:xfrm>
          <a:prstGeom prst="line">
            <a:avLst/>
          </a:prstGeom>
          <a:noFill/>
          <a:ln w="19050">
            <a:solidFill>
              <a:srgbClr val="1A2332"/>
            </a:solidFill>
            <a:prstDash val="solid"/>
            <a:tailEnd type="triangle"/>
          </a:ln>
        </p:spPr>
      </p:sp>
      <p:sp>
        <p:nvSpPr>
          <p:cNvPr id="17" name="Shape 15"/>
          <p:cNvSpPr/>
          <p:nvPr/>
        </p:nvSpPr>
        <p:spPr>
          <a:xfrm>
            <a:off x="5349240" y="1988820"/>
            <a:ext cx="365760" cy="0"/>
          </a:xfrm>
          <a:prstGeom prst="line">
            <a:avLst/>
          </a:prstGeom>
          <a:noFill/>
          <a:ln w="19050">
            <a:solidFill>
              <a:srgbClr val="1A2332"/>
            </a:solidFill>
            <a:prstDash val="solid"/>
            <a:tailEnd type="triangle"/>
          </a:ln>
        </p:spPr>
      </p:sp>
      <p:sp>
        <p:nvSpPr>
          <p:cNvPr id="18" name="Shape 16"/>
          <p:cNvSpPr/>
          <p:nvPr/>
        </p:nvSpPr>
        <p:spPr>
          <a:xfrm>
            <a:off x="7086600" y="1988820"/>
            <a:ext cx="365760" cy="0"/>
          </a:xfrm>
          <a:prstGeom prst="line">
            <a:avLst/>
          </a:prstGeom>
          <a:noFill/>
          <a:ln w="19050">
            <a:solidFill>
              <a:srgbClr val="1A2332"/>
            </a:solidFill>
            <a:prstDash val="solid"/>
            <a:tailEnd type="triangle"/>
          </a:ln>
        </p:spPr>
      </p:sp>
      <p:sp>
        <p:nvSpPr>
          <p:cNvPr id="19" name="Text 17"/>
          <p:cNvSpPr/>
          <p:nvPr/>
        </p:nvSpPr>
        <p:spPr>
          <a:xfrm>
            <a:off x="1783080" y="1280160"/>
            <a:ext cx="868680" cy="228600"/>
          </a:xfrm>
          <a:prstGeom prst="rect">
            <a:avLst/>
          </a:prstGeom>
          <a:noFill/>
          <a:ln/>
        </p:spPr>
        <p:txBody>
          <a:bodyPr wrap="square" lIns="0" tIns="0" rIns="0" bIns="0" rtlCol="0" anchor="ctr"/>
          <a:lstStyle/>
          <a:p>
            <a:pPr algn="ctr" indent="0" marL="0">
              <a:buNone/>
            </a:pPr>
            <a:r>
              <a:rPr lang="en-US" sz="850" i="1" dirty="0">
                <a:solidFill>
                  <a:srgbClr val="0077B6"/>
                </a:solidFill>
                <a:latin typeface="Consolas" pitchFamily="34" charset="0"/>
                <a:ea typeface="Consolas" pitchFamily="34" charset="-122"/>
                <a:cs typeface="Consolas" pitchFamily="34" charset="-120"/>
              </a:rPr>
              <a:t>/goals</a:t>
            </a:r>
            <a:endParaRPr lang="en-US" sz="850" dirty="0"/>
          </a:p>
        </p:txBody>
      </p:sp>
      <p:sp>
        <p:nvSpPr>
          <p:cNvPr id="20" name="Text 18"/>
          <p:cNvSpPr/>
          <p:nvPr/>
        </p:nvSpPr>
        <p:spPr>
          <a:xfrm>
            <a:off x="3520440" y="1280160"/>
            <a:ext cx="868680" cy="228600"/>
          </a:xfrm>
          <a:prstGeom prst="rect">
            <a:avLst/>
          </a:prstGeom>
          <a:noFill/>
          <a:ln/>
        </p:spPr>
        <p:txBody>
          <a:bodyPr wrap="square" lIns="0" tIns="0" rIns="0" bIns="0" rtlCol="0" anchor="ctr"/>
          <a:lstStyle/>
          <a:p>
            <a:pPr algn="ctr" indent="0" marL="0">
              <a:buNone/>
            </a:pPr>
            <a:r>
              <a:rPr lang="en-US" sz="850" i="1" dirty="0">
                <a:solidFill>
                  <a:srgbClr val="0077B6"/>
                </a:solidFill>
                <a:latin typeface="Consolas" pitchFamily="34" charset="0"/>
                <a:ea typeface="Consolas" pitchFamily="34" charset="-122"/>
                <a:cs typeface="Consolas" pitchFamily="34" charset="-120"/>
              </a:rPr>
              <a:t>/cmd_vel</a:t>
            </a:r>
            <a:endParaRPr lang="en-US" sz="850" dirty="0"/>
          </a:p>
        </p:txBody>
      </p:sp>
      <p:sp>
        <p:nvSpPr>
          <p:cNvPr id="21" name="Text 19"/>
          <p:cNvSpPr/>
          <p:nvPr/>
        </p:nvSpPr>
        <p:spPr>
          <a:xfrm>
            <a:off x="5257800" y="1280160"/>
            <a:ext cx="868680" cy="228600"/>
          </a:xfrm>
          <a:prstGeom prst="rect">
            <a:avLst/>
          </a:prstGeom>
          <a:noFill/>
          <a:ln/>
        </p:spPr>
        <p:txBody>
          <a:bodyPr wrap="square" lIns="0" tIns="0" rIns="0" bIns="0" rtlCol="0" anchor="ctr"/>
          <a:lstStyle/>
          <a:p>
            <a:pPr algn="ctr" indent="0" marL="0">
              <a:buNone/>
            </a:pPr>
            <a:r>
              <a:rPr lang="en-US" sz="850" i="1" dirty="0">
                <a:solidFill>
                  <a:srgbClr val="0077B6"/>
                </a:solidFill>
                <a:latin typeface="Consolas" pitchFamily="34" charset="0"/>
                <a:ea typeface="Consolas" pitchFamily="34" charset="-122"/>
                <a:cs typeface="Consolas" pitchFamily="34" charset="-120"/>
              </a:rPr>
              <a:t>Float32 L,R</a:t>
            </a:r>
            <a:endParaRPr lang="en-US" sz="850" dirty="0"/>
          </a:p>
        </p:txBody>
      </p:sp>
      <p:sp>
        <p:nvSpPr>
          <p:cNvPr id="22" name="Text 20"/>
          <p:cNvSpPr/>
          <p:nvPr/>
        </p:nvSpPr>
        <p:spPr>
          <a:xfrm>
            <a:off x="6995160" y="1280160"/>
            <a:ext cx="868680" cy="228600"/>
          </a:xfrm>
          <a:prstGeom prst="rect">
            <a:avLst/>
          </a:prstGeom>
          <a:noFill/>
          <a:ln/>
        </p:spPr>
        <p:txBody>
          <a:bodyPr wrap="square" lIns="0" tIns="0" rIns="0" bIns="0" rtlCol="0" anchor="ctr"/>
          <a:lstStyle/>
          <a:p>
            <a:pPr algn="ctr" indent="0" marL="0">
              <a:buNone/>
            </a:pPr>
            <a:r>
              <a:rPr lang="en-US" sz="850" i="1" dirty="0">
                <a:solidFill>
                  <a:srgbClr val="0077B6"/>
                </a:solidFill>
                <a:latin typeface="Consolas" pitchFamily="34" charset="0"/>
                <a:ea typeface="Consolas" pitchFamily="34" charset="-122"/>
                <a:cs typeface="Consolas" pitchFamily="34" charset="-120"/>
              </a:rPr>
              <a:t>EncL/R</a:t>
            </a:r>
            <a:endParaRPr lang="en-US" sz="850" dirty="0"/>
          </a:p>
        </p:txBody>
      </p:sp>
      <p:sp>
        <p:nvSpPr>
          <p:cNvPr id="23" name="Shape 21"/>
          <p:cNvSpPr/>
          <p:nvPr/>
        </p:nvSpPr>
        <p:spPr>
          <a:xfrm>
            <a:off x="8138160" y="2468880"/>
            <a:ext cx="0" cy="411480"/>
          </a:xfrm>
          <a:prstGeom prst="line">
            <a:avLst/>
          </a:prstGeom>
          <a:noFill/>
          <a:ln w="19050">
            <a:solidFill>
              <a:srgbClr val="06A77D"/>
            </a:solidFill>
            <a:prstDash val="solid"/>
          </a:ln>
        </p:spPr>
      </p:sp>
      <p:sp>
        <p:nvSpPr>
          <p:cNvPr id="24" name="Shape 22"/>
          <p:cNvSpPr/>
          <p:nvPr/>
        </p:nvSpPr>
        <p:spPr>
          <a:xfrm>
            <a:off x="2926080" y="2880360"/>
            <a:ext cx="5212080" cy="0"/>
          </a:xfrm>
          <a:prstGeom prst="line">
            <a:avLst/>
          </a:prstGeom>
          <a:noFill/>
          <a:ln w="19050">
            <a:solidFill>
              <a:srgbClr val="06A77D"/>
            </a:solidFill>
            <a:prstDash val="solid"/>
          </a:ln>
        </p:spPr>
      </p:sp>
      <p:sp>
        <p:nvSpPr>
          <p:cNvPr id="25" name="Shape 23"/>
          <p:cNvSpPr/>
          <p:nvPr/>
        </p:nvSpPr>
        <p:spPr>
          <a:xfrm>
            <a:off x="2926080" y="2468880"/>
            <a:ext cx="0" cy="457200"/>
          </a:xfrm>
          <a:prstGeom prst="line">
            <a:avLst/>
          </a:prstGeom>
          <a:noFill/>
          <a:ln w="19050">
            <a:solidFill>
              <a:srgbClr val="06A77D"/>
            </a:solidFill>
            <a:prstDash val="solid"/>
            <a:headEnd type="none"/>
            <a:tailEnd type="triangle"/>
          </a:ln>
        </p:spPr>
      </p:sp>
      <p:sp>
        <p:nvSpPr>
          <p:cNvPr id="26" name="Text 24"/>
          <p:cNvSpPr/>
          <p:nvPr/>
        </p:nvSpPr>
        <p:spPr>
          <a:xfrm>
            <a:off x="4114800" y="2926080"/>
            <a:ext cx="3200400" cy="228600"/>
          </a:xfrm>
          <a:prstGeom prst="rect">
            <a:avLst/>
          </a:prstGeom>
          <a:noFill/>
          <a:ln/>
        </p:spPr>
        <p:txBody>
          <a:bodyPr wrap="square" lIns="0" tIns="0" rIns="0" bIns="0" rtlCol="0" anchor="ctr"/>
          <a:lstStyle/>
          <a:p>
            <a:pPr algn="ctr" indent="0" marL="0">
              <a:buNone/>
            </a:pPr>
            <a:r>
              <a:rPr lang="en-US" sz="900" i="1" dirty="0">
                <a:solidFill>
                  <a:srgbClr val="06A77D"/>
                </a:solidFill>
                <a:latin typeface="Consolas" pitchFamily="34" charset="0"/>
                <a:ea typeface="Consolas" pitchFamily="34" charset="-122"/>
                <a:cs typeface="Consolas" pitchFamily="34" charset="-120"/>
              </a:rPr>
              <a:t>/robot_pose  (lazo cerrado)</a:t>
            </a:r>
            <a:endParaRPr lang="en-US" sz="900" dirty="0"/>
          </a:p>
        </p:txBody>
      </p:sp>
      <p:sp>
        <p:nvSpPr>
          <p:cNvPr id="27" name="Text 25"/>
          <p:cNvSpPr/>
          <p:nvPr/>
        </p:nvSpPr>
        <p:spPr>
          <a:xfrm>
            <a:off x="502920" y="3337560"/>
            <a:ext cx="8229600" cy="1417320"/>
          </a:xfrm>
          <a:prstGeom prst="rect">
            <a:avLst/>
          </a:prstGeom>
          <a:noFill/>
          <a:ln/>
        </p:spPr>
        <p:txBody>
          <a:bodyPr wrap="square" lIns="0" tIns="0" rIns="0" bIns="0" rtlCol="0" anchor="ctr"/>
          <a:lstStyle/>
          <a:p>
            <a:pPr indent="0" marL="0">
              <a:spcAft>
                <a:spcPts val="200"/>
              </a:spcAft>
              <a:buNone/>
            </a:pPr>
            <a:r>
              <a:rPr lang="en-US" sz="1100" b="1" dirty="0">
                <a:solidFill>
                  <a:srgbClr val="1A2332"/>
                </a:solidFill>
                <a:latin typeface="Calibri" pitchFamily="34" charset="0"/>
                <a:ea typeface="Calibri" pitchFamily="34" charset="-122"/>
                <a:cs typeface="Calibri" pitchFamily="34" charset="-120"/>
              </a:rPr>
              <a:t>Path Generator: </a:t>
            </a:r>
            <a:pPr indent="0" marL="0">
              <a:spcAft>
                <a:spcPts val="200"/>
              </a:spcAft>
              <a:buNone/>
            </a:pPr>
            <a:r>
              <a:rPr lang="en-US" sz="1100" dirty="0">
                <a:solidFill>
                  <a:srgbClr val="1A2332"/>
                </a:solidFill>
                <a:latin typeface="Calibri" pitchFamily="34" charset="0"/>
                <a:ea typeface="Calibri" pitchFamily="34" charset="-122"/>
                <a:cs typeface="Calibri" pitchFamily="34" charset="-120"/>
              </a:rPr>
              <a:t>carga y valida los waypoints, los publica uno a uno.</a:t>
            </a:r>
            <a:endParaRPr lang="en-US" sz="1100" dirty="0"/>
          </a:p>
          <a:p>
            <a:pPr indent="0" marL="0">
              <a:spcAft>
                <a:spcPts val="200"/>
              </a:spcAft>
              <a:buNone/>
            </a:pPr>
            <a:r>
              <a:rPr lang="en-US" sz="1100" b="1" dirty="0">
                <a:solidFill>
                  <a:srgbClr val="1A2332"/>
                </a:solidFill>
                <a:latin typeface="Calibri" pitchFamily="34" charset="0"/>
                <a:ea typeface="Calibri" pitchFamily="34" charset="-122"/>
                <a:cs typeface="Calibri" pitchFamily="34" charset="-120"/>
              </a:rPr>
              <a:t>Controller: </a:t>
            </a:r>
            <a:pPr indent="0" marL="0">
              <a:spcAft>
                <a:spcPts val="200"/>
              </a:spcAft>
              <a:buNone/>
            </a:pPr>
            <a:r>
              <a:rPr lang="en-US" sz="1100" dirty="0">
                <a:solidFill>
                  <a:srgbClr val="1A2332"/>
                </a:solidFill>
                <a:latin typeface="Calibri" pitchFamily="34" charset="0"/>
                <a:ea typeface="Calibri" pitchFamily="34" charset="-122"/>
                <a:cs typeface="Calibri" pitchFamily="34" charset="-120"/>
              </a:rPr>
              <a:t>compara pose contra goal, calcula (v, w) con PID.</a:t>
            </a:r>
            <a:endParaRPr lang="en-US" sz="1100" dirty="0"/>
          </a:p>
          <a:p>
            <a:pPr indent="0" marL="0">
              <a:spcAft>
                <a:spcPts val="200"/>
              </a:spcAft>
              <a:buNone/>
            </a:pPr>
            <a:r>
              <a:rPr lang="en-US" sz="1100" b="1" dirty="0">
                <a:solidFill>
                  <a:srgbClr val="1A2332"/>
                </a:solidFill>
                <a:latin typeface="Calibri" pitchFamily="34" charset="0"/>
                <a:ea typeface="Calibri" pitchFamily="34" charset="-122"/>
                <a:cs typeface="Calibri" pitchFamily="34" charset="-120"/>
              </a:rPr>
              <a:t>Bridge: </a:t>
            </a:r>
            <a:pPr indent="0" marL="0">
              <a:spcAft>
                <a:spcPts val="200"/>
              </a:spcAft>
              <a:buNone/>
            </a:pPr>
            <a:r>
              <a:rPr lang="en-US" sz="1100" dirty="0">
                <a:solidFill>
                  <a:srgbClr val="1A2332"/>
                </a:solidFill>
                <a:latin typeface="Calibri" pitchFamily="34" charset="0"/>
                <a:ea typeface="Calibri" pitchFamily="34" charset="-122"/>
                <a:cs typeface="Calibri" pitchFamily="34" charset="-120"/>
              </a:rPr>
              <a:t>traduce Twist a setpoints Float32 por rueda (firmware actual no responde a /cmd_vel).</a:t>
            </a:r>
            <a:endParaRPr lang="en-US" sz="1100" dirty="0"/>
          </a:p>
          <a:p>
            <a:pPr indent="0" marL="0">
              <a:spcAft>
                <a:spcPts val="200"/>
              </a:spcAft>
              <a:buNone/>
            </a:pPr>
            <a:r>
              <a:rPr lang="en-US" sz="1100" b="1" dirty="0">
                <a:solidFill>
                  <a:srgbClr val="1A2332"/>
                </a:solidFill>
                <a:latin typeface="Calibri" pitchFamily="34" charset="0"/>
                <a:ea typeface="Calibri" pitchFamily="34" charset="-122"/>
                <a:cs typeface="Calibri" pitchFamily="34" charset="-120"/>
              </a:rPr>
              <a:t>Odometry: </a:t>
            </a:r>
            <a:pPr indent="0" marL="0">
              <a:spcAft>
                <a:spcPts val="200"/>
              </a:spcAft>
              <a:buNone/>
            </a:pPr>
            <a:r>
              <a:rPr lang="en-US" sz="1100" dirty="0">
                <a:solidFill>
                  <a:srgbClr val="1A2332"/>
                </a:solidFill>
                <a:latin typeface="Calibri" pitchFamily="34" charset="0"/>
                <a:ea typeface="Calibri" pitchFamily="34" charset="-122"/>
                <a:cs typeface="Calibri" pitchFamily="34" charset="-120"/>
              </a:rPr>
              <a:t>integra velocidades de encoder a pose 2D y la realimenta al controller.</a:t>
            </a:r>
            <a:endParaRPr lang="en-US" sz="1100" dirty="0"/>
          </a:p>
        </p:txBody>
      </p:sp>
      <p:sp>
        <p:nvSpPr>
          <p:cNvPr id="28" name="Text 26"/>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Equipo 1 - REPO    |    Mini Challenge 3 - PuzzleBot</a:t>
            </a:r>
            <a:endParaRPr lang="en-US" sz="900" dirty="0"/>
          </a:p>
        </p:txBody>
      </p:sp>
      <p:sp>
        <p:nvSpPr>
          <p:cNvPr id="29" name="Text 27"/>
          <p:cNvSpPr/>
          <p:nvPr/>
        </p:nvSpPr>
        <p:spPr>
          <a:xfrm>
            <a:off x="8412480" y="4846320"/>
            <a:ext cx="36576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4864" cy="502920"/>
          </a:xfrm>
          <a:prstGeom prst="rect">
            <a:avLst/>
          </a:prstGeom>
          <a:solidFill>
            <a:srgbClr val="00B4D8"/>
          </a:solidFill>
          <a:ln w="12700">
            <a:solidFill>
              <a:srgbClr val="00B4D8"/>
            </a:solidFill>
            <a:prstDash val="solid"/>
          </a:ln>
        </p:spPr>
      </p:sp>
      <p:sp>
        <p:nvSpPr>
          <p:cNvPr id="3" name="Text 1"/>
          <p:cNvSpPr/>
          <p:nvPr/>
        </p:nvSpPr>
        <p:spPr>
          <a:xfrm>
            <a:off x="640080" y="320040"/>
            <a:ext cx="8229600" cy="640080"/>
          </a:xfrm>
          <a:prstGeom prst="rect">
            <a:avLst/>
          </a:prstGeom>
          <a:noFill/>
          <a:ln/>
        </p:spPr>
        <p:txBody>
          <a:bodyPr wrap="square" lIns="0" tIns="0" rIns="0" bIns="0" rtlCol="0" anchor="ctr"/>
          <a:lstStyle/>
          <a:p>
            <a:pPr indent="0" marL="0">
              <a:buNone/>
            </a:pPr>
            <a:r>
              <a:rPr lang="en-US" sz="2600" b="1" dirty="0">
                <a:solidFill>
                  <a:srgbClr val="1A2332"/>
                </a:solidFill>
                <a:latin typeface="Calibri" pitchFamily="34" charset="0"/>
                <a:ea typeface="Calibri" pitchFamily="34" charset="-122"/>
                <a:cs typeface="Calibri" pitchFamily="34" charset="-120"/>
              </a:rPr>
              <a:t>Mensaje custom: Goal.msg</a:t>
            </a:r>
            <a:endParaRPr lang="en-US" sz="2600" dirty="0"/>
          </a:p>
        </p:txBody>
      </p:sp>
      <p:sp>
        <p:nvSpPr>
          <p:cNvPr id="4" name="Text 2"/>
          <p:cNvSpPr/>
          <p:nvPr/>
        </p:nvSpPr>
        <p:spPr>
          <a:xfrm>
            <a:off x="502920" y="1005840"/>
            <a:ext cx="8229600" cy="502920"/>
          </a:xfrm>
          <a:prstGeom prst="rect">
            <a:avLst/>
          </a:prstGeom>
          <a:noFill/>
          <a:ln/>
        </p:spPr>
        <p:txBody>
          <a:bodyPr wrap="square" lIns="0" tIns="0" rIns="0" bIns="0" rtlCol="0" anchor="ctr"/>
          <a:lstStyle/>
          <a:p>
            <a:pPr indent="0" marL="0">
              <a:buNone/>
            </a:pPr>
            <a:r>
              <a:rPr lang="en-US" sz="1200" i="1" dirty="0">
                <a:solidFill>
                  <a:srgbClr val="6B7785"/>
                </a:solidFill>
                <a:latin typeface="Calibri" pitchFamily="34" charset="0"/>
                <a:ea typeface="Calibri" pitchFamily="34" charset="-122"/>
                <a:cs typeface="Calibri" pitchFamily="34" charset="-120"/>
              </a:rPr>
              <a:t>Requisito explicito del enunciado: el topico /goals debe usar un mensaje custom basado en geometry_msgs/Pose.</a:t>
            </a:r>
            <a:endParaRPr lang="en-US" sz="1200" dirty="0"/>
          </a:p>
        </p:txBody>
      </p:sp>
      <p:sp>
        <p:nvSpPr>
          <p:cNvPr id="5" name="Shape 3"/>
          <p:cNvSpPr/>
          <p:nvPr/>
        </p:nvSpPr>
        <p:spPr>
          <a:xfrm>
            <a:off x="502920" y="1691640"/>
            <a:ext cx="4206240" cy="1554480"/>
          </a:xfrm>
          <a:prstGeom prst="rect">
            <a:avLst/>
          </a:prstGeom>
          <a:solidFill>
            <a:srgbClr val="0F2438"/>
          </a:solidFill>
          <a:ln w="12700">
            <a:solidFill>
              <a:srgbClr val="0F2438"/>
            </a:solidFill>
            <a:prstDash val="solid"/>
          </a:ln>
        </p:spPr>
      </p:sp>
      <p:sp>
        <p:nvSpPr>
          <p:cNvPr id="6" name="Text 4"/>
          <p:cNvSpPr/>
          <p:nvPr/>
        </p:nvSpPr>
        <p:spPr>
          <a:xfrm>
            <a:off x="640080" y="1783080"/>
            <a:ext cx="3931920" cy="1371600"/>
          </a:xfrm>
          <a:prstGeom prst="rect">
            <a:avLst/>
          </a:prstGeom>
          <a:noFill/>
          <a:ln/>
        </p:spPr>
        <p:txBody>
          <a:bodyPr wrap="square" lIns="0" tIns="0" rIns="0" bIns="0"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 msg/Goal.msg</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std_msgs/Header header</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geometry_msgs/Pose pose</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uint32 id</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bool   is_last</a:t>
            </a:r>
            <a:endParaRPr lang="en-US" sz="1200" dirty="0"/>
          </a:p>
        </p:txBody>
      </p:sp>
      <p:sp>
        <p:nvSpPr>
          <p:cNvPr id="7" name="Shape 5"/>
          <p:cNvSpPr/>
          <p:nvPr/>
        </p:nvSpPr>
        <p:spPr>
          <a:xfrm>
            <a:off x="4937760" y="1691640"/>
            <a:ext cx="3840480" cy="713232"/>
          </a:xfrm>
          <a:prstGeom prst="rect">
            <a:avLst/>
          </a:prstGeom>
          <a:solidFill>
            <a:srgbClr val="F4F7FA"/>
          </a:solidFill>
          <a:ln w="9525">
            <a:solidFill>
              <a:srgbClr val="E5E9EE"/>
            </a:solidFill>
            <a:prstDash val="solid"/>
          </a:ln>
        </p:spPr>
      </p:sp>
      <p:sp>
        <p:nvSpPr>
          <p:cNvPr id="8" name="Shape 6"/>
          <p:cNvSpPr/>
          <p:nvPr/>
        </p:nvSpPr>
        <p:spPr>
          <a:xfrm>
            <a:off x="4937760" y="1691640"/>
            <a:ext cx="54864" cy="713232"/>
          </a:xfrm>
          <a:prstGeom prst="rect">
            <a:avLst/>
          </a:prstGeom>
          <a:solidFill>
            <a:srgbClr val="00B4D8"/>
          </a:solidFill>
          <a:ln w="12700">
            <a:solidFill>
              <a:srgbClr val="00B4D8"/>
            </a:solidFill>
            <a:prstDash val="solid"/>
          </a:ln>
        </p:spPr>
      </p:sp>
      <p:sp>
        <p:nvSpPr>
          <p:cNvPr id="9" name="Text 7"/>
          <p:cNvSpPr/>
          <p:nvPr/>
        </p:nvSpPr>
        <p:spPr>
          <a:xfrm>
            <a:off x="5074920" y="1737360"/>
            <a:ext cx="3657600" cy="228600"/>
          </a:xfrm>
          <a:prstGeom prst="rect">
            <a:avLst/>
          </a:prstGeom>
          <a:noFill/>
          <a:ln/>
        </p:spPr>
        <p:txBody>
          <a:bodyPr wrap="square" lIns="0" tIns="0" rIns="0" bIns="0" rtlCol="0" anchor="ctr"/>
          <a:lstStyle/>
          <a:p>
            <a:pPr indent="0" marL="0">
              <a:buNone/>
            </a:pPr>
            <a:r>
              <a:rPr lang="en-US" sz="1200" b="1" dirty="0">
                <a:solidFill>
                  <a:srgbClr val="1A2332"/>
                </a:solidFill>
                <a:latin typeface="Consolas" pitchFamily="34" charset="0"/>
                <a:ea typeface="Consolas" pitchFamily="34" charset="-122"/>
                <a:cs typeface="Consolas" pitchFamily="34" charset="-120"/>
              </a:rPr>
              <a:t>Pose</a:t>
            </a:r>
            <a:endParaRPr lang="en-US" sz="1200" dirty="0"/>
          </a:p>
        </p:txBody>
      </p:sp>
      <p:sp>
        <p:nvSpPr>
          <p:cNvPr id="10" name="Text 8"/>
          <p:cNvSpPr/>
          <p:nvPr/>
        </p:nvSpPr>
        <p:spPr>
          <a:xfrm>
            <a:off x="5074920" y="1984248"/>
            <a:ext cx="3657600" cy="384048"/>
          </a:xfrm>
          <a:prstGeom prst="rect">
            <a:avLst/>
          </a:prstGeom>
          <a:noFill/>
          <a:ln/>
        </p:spPr>
        <p:txBody>
          <a:bodyPr wrap="square" lIns="0" tIns="0" rIns="0" bIns="0" rtlCol="0" anchor="t"/>
          <a:lstStyle/>
          <a:p>
            <a:pPr indent="0" marL="0">
              <a:buNone/>
            </a:pPr>
            <a:r>
              <a:rPr lang="en-US" sz="1050" dirty="0">
                <a:solidFill>
                  <a:srgbClr val="1A2332"/>
                </a:solidFill>
                <a:latin typeface="Calibri" pitchFamily="34" charset="0"/>
                <a:ea typeface="Calibri" pitchFamily="34" charset="-122"/>
                <a:cs typeface="Calibri" pitchFamily="34" charset="-120"/>
              </a:rPr>
              <a:t>Reusa Pose de geometry_msgs (cumple el requisito del MC). Solo se usa la posicion (x, y); la orientacion se calcula con atan2.</a:t>
            </a:r>
            <a:endParaRPr lang="en-US" sz="1050" dirty="0"/>
          </a:p>
        </p:txBody>
      </p:sp>
      <p:sp>
        <p:nvSpPr>
          <p:cNvPr id="11" name="Shape 9"/>
          <p:cNvSpPr/>
          <p:nvPr/>
        </p:nvSpPr>
        <p:spPr>
          <a:xfrm>
            <a:off x="4937760" y="2514600"/>
            <a:ext cx="3840480" cy="713232"/>
          </a:xfrm>
          <a:prstGeom prst="rect">
            <a:avLst/>
          </a:prstGeom>
          <a:solidFill>
            <a:srgbClr val="F4F7FA"/>
          </a:solidFill>
          <a:ln w="9525">
            <a:solidFill>
              <a:srgbClr val="E5E9EE"/>
            </a:solidFill>
            <a:prstDash val="solid"/>
          </a:ln>
        </p:spPr>
      </p:sp>
      <p:sp>
        <p:nvSpPr>
          <p:cNvPr id="12" name="Shape 10"/>
          <p:cNvSpPr/>
          <p:nvPr/>
        </p:nvSpPr>
        <p:spPr>
          <a:xfrm>
            <a:off x="4937760" y="2514600"/>
            <a:ext cx="54864" cy="713232"/>
          </a:xfrm>
          <a:prstGeom prst="rect">
            <a:avLst/>
          </a:prstGeom>
          <a:solidFill>
            <a:srgbClr val="00B4D8"/>
          </a:solidFill>
          <a:ln w="12700">
            <a:solidFill>
              <a:srgbClr val="00B4D8"/>
            </a:solidFill>
            <a:prstDash val="solid"/>
          </a:ln>
        </p:spPr>
      </p:sp>
      <p:sp>
        <p:nvSpPr>
          <p:cNvPr id="13" name="Text 11"/>
          <p:cNvSpPr/>
          <p:nvPr/>
        </p:nvSpPr>
        <p:spPr>
          <a:xfrm>
            <a:off x="5074920" y="2560320"/>
            <a:ext cx="3657600" cy="228600"/>
          </a:xfrm>
          <a:prstGeom prst="rect">
            <a:avLst/>
          </a:prstGeom>
          <a:noFill/>
          <a:ln/>
        </p:spPr>
        <p:txBody>
          <a:bodyPr wrap="square" lIns="0" tIns="0" rIns="0" bIns="0" rtlCol="0" anchor="ctr"/>
          <a:lstStyle/>
          <a:p>
            <a:pPr indent="0" marL="0">
              <a:buNone/>
            </a:pPr>
            <a:r>
              <a:rPr lang="en-US" sz="1200" b="1" dirty="0">
                <a:solidFill>
                  <a:srgbClr val="1A2332"/>
                </a:solidFill>
                <a:latin typeface="Consolas" pitchFamily="34" charset="0"/>
                <a:ea typeface="Consolas" pitchFamily="34" charset="-122"/>
                <a:cs typeface="Consolas" pitchFamily="34" charset="-120"/>
              </a:rPr>
              <a:t>id</a:t>
            </a:r>
            <a:endParaRPr lang="en-US" sz="1200" dirty="0"/>
          </a:p>
        </p:txBody>
      </p:sp>
      <p:sp>
        <p:nvSpPr>
          <p:cNvPr id="14" name="Text 12"/>
          <p:cNvSpPr/>
          <p:nvPr/>
        </p:nvSpPr>
        <p:spPr>
          <a:xfrm>
            <a:off x="5074920" y="2807208"/>
            <a:ext cx="3657600" cy="384048"/>
          </a:xfrm>
          <a:prstGeom prst="rect">
            <a:avLst/>
          </a:prstGeom>
          <a:noFill/>
          <a:ln/>
        </p:spPr>
        <p:txBody>
          <a:bodyPr wrap="square" lIns="0" tIns="0" rIns="0" bIns="0" rtlCol="0" anchor="t"/>
          <a:lstStyle/>
          <a:p>
            <a:pPr indent="0" marL="0">
              <a:buNone/>
            </a:pPr>
            <a:r>
              <a:rPr lang="en-US" sz="1050" dirty="0">
                <a:solidFill>
                  <a:srgbClr val="1A2332"/>
                </a:solidFill>
                <a:latin typeface="Calibri" pitchFamily="34" charset="0"/>
                <a:ea typeface="Calibri" pitchFamily="34" charset="-122"/>
                <a:cs typeface="Calibri" pitchFamily="34" charset="-120"/>
              </a:rPr>
              <a:t>Identificador unico del waypoint. El Controller lo devuelve al Path Generator al alcanzar el goal.</a:t>
            </a:r>
            <a:endParaRPr lang="en-US" sz="1050" dirty="0"/>
          </a:p>
        </p:txBody>
      </p:sp>
      <p:sp>
        <p:nvSpPr>
          <p:cNvPr id="15" name="Shape 13"/>
          <p:cNvSpPr/>
          <p:nvPr/>
        </p:nvSpPr>
        <p:spPr>
          <a:xfrm>
            <a:off x="4937760" y="3337560"/>
            <a:ext cx="3840480" cy="713232"/>
          </a:xfrm>
          <a:prstGeom prst="rect">
            <a:avLst/>
          </a:prstGeom>
          <a:solidFill>
            <a:srgbClr val="F4F7FA"/>
          </a:solidFill>
          <a:ln w="9525">
            <a:solidFill>
              <a:srgbClr val="E5E9EE"/>
            </a:solidFill>
            <a:prstDash val="solid"/>
          </a:ln>
        </p:spPr>
      </p:sp>
      <p:sp>
        <p:nvSpPr>
          <p:cNvPr id="16" name="Shape 14"/>
          <p:cNvSpPr/>
          <p:nvPr/>
        </p:nvSpPr>
        <p:spPr>
          <a:xfrm>
            <a:off x="4937760" y="3337560"/>
            <a:ext cx="54864" cy="713232"/>
          </a:xfrm>
          <a:prstGeom prst="rect">
            <a:avLst/>
          </a:prstGeom>
          <a:solidFill>
            <a:srgbClr val="00B4D8"/>
          </a:solidFill>
          <a:ln w="12700">
            <a:solidFill>
              <a:srgbClr val="00B4D8"/>
            </a:solidFill>
            <a:prstDash val="solid"/>
          </a:ln>
        </p:spPr>
      </p:sp>
      <p:sp>
        <p:nvSpPr>
          <p:cNvPr id="17" name="Text 15"/>
          <p:cNvSpPr/>
          <p:nvPr/>
        </p:nvSpPr>
        <p:spPr>
          <a:xfrm>
            <a:off x="5074920" y="3383280"/>
            <a:ext cx="3657600" cy="228600"/>
          </a:xfrm>
          <a:prstGeom prst="rect">
            <a:avLst/>
          </a:prstGeom>
          <a:noFill/>
          <a:ln/>
        </p:spPr>
        <p:txBody>
          <a:bodyPr wrap="square" lIns="0" tIns="0" rIns="0" bIns="0" rtlCol="0" anchor="ctr"/>
          <a:lstStyle/>
          <a:p>
            <a:pPr indent="0" marL="0">
              <a:buNone/>
            </a:pPr>
            <a:r>
              <a:rPr lang="en-US" sz="1200" b="1" dirty="0">
                <a:solidFill>
                  <a:srgbClr val="1A2332"/>
                </a:solidFill>
                <a:latin typeface="Consolas" pitchFamily="34" charset="0"/>
                <a:ea typeface="Consolas" pitchFamily="34" charset="-122"/>
                <a:cs typeface="Consolas" pitchFamily="34" charset="-120"/>
              </a:rPr>
              <a:t>is_last</a:t>
            </a:r>
            <a:endParaRPr lang="en-US" sz="1200" dirty="0"/>
          </a:p>
        </p:txBody>
      </p:sp>
      <p:sp>
        <p:nvSpPr>
          <p:cNvPr id="18" name="Text 16"/>
          <p:cNvSpPr/>
          <p:nvPr/>
        </p:nvSpPr>
        <p:spPr>
          <a:xfrm>
            <a:off x="5074920" y="3630168"/>
            <a:ext cx="3657600" cy="384048"/>
          </a:xfrm>
          <a:prstGeom prst="rect">
            <a:avLst/>
          </a:prstGeom>
          <a:noFill/>
          <a:ln/>
        </p:spPr>
        <p:txBody>
          <a:bodyPr wrap="square" lIns="0" tIns="0" rIns="0" bIns="0" rtlCol="0" anchor="t"/>
          <a:lstStyle/>
          <a:p>
            <a:pPr indent="0" marL="0">
              <a:buNone/>
            </a:pPr>
            <a:r>
              <a:rPr lang="en-US" sz="1050" dirty="0">
                <a:solidFill>
                  <a:srgbClr val="1A2332"/>
                </a:solidFill>
                <a:latin typeface="Calibri" pitchFamily="34" charset="0"/>
                <a:ea typeface="Calibri" pitchFamily="34" charset="-122"/>
                <a:cs typeface="Calibri" pitchFamily="34" charset="-120"/>
              </a:rPr>
              <a:t>Bandera para que el Path Generator sepa cuando ha terminado la trayectoria.</a:t>
            </a:r>
            <a:endParaRPr lang="en-US" sz="1050" dirty="0"/>
          </a:p>
        </p:txBody>
      </p:sp>
      <p:sp>
        <p:nvSpPr>
          <p:cNvPr id="19" name="Shape 17"/>
          <p:cNvSpPr/>
          <p:nvPr/>
        </p:nvSpPr>
        <p:spPr>
          <a:xfrm>
            <a:off x="502920" y="4160520"/>
            <a:ext cx="8229600" cy="502920"/>
          </a:xfrm>
          <a:prstGeom prst="rect">
            <a:avLst/>
          </a:prstGeom>
          <a:solidFill>
            <a:srgbClr val="EFF8FB"/>
          </a:solidFill>
          <a:ln w="12700">
            <a:solidFill>
              <a:srgbClr val="00B4D8"/>
            </a:solidFill>
            <a:prstDash val="solid"/>
          </a:ln>
        </p:spPr>
      </p:sp>
      <p:pic>
        <p:nvPicPr>
          <p:cNvPr id="20" name="Image 0" descr="preencoded.png">    </p:cNvPr>
          <p:cNvPicPr>
            <a:picLocks noChangeAspect="1"/>
          </p:cNvPicPr>
          <p:nvPr/>
        </p:nvPicPr>
        <p:blipFill>
          <a:blip r:embed="rId1"/>
          <a:stretch>
            <a:fillRect/>
          </a:stretch>
        </p:blipFill>
        <p:spPr>
          <a:xfrm>
            <a:off x="640080" y="4261104"/>
            <a:ext cx="292608" cy="292608"/>
          </a:xfrm>
          <a:prstGeom prst="rect">
            <a:avLst/>
          </a:prstGeom>
        </p:spPr>
      </p:pic>
      <p:sp>
        <p:nvSpPr>
          <p:cNvPr id="21" name="Text 18"/>
          <p:cNvSpPr/>
          <p:nvPr/>
        </p:nvSpPr>
        <p:spPr>
          <a:xfrm>
            <a:off x="1005840" y="4160520"/>
            <a:ext cx="7680960" cy="50292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Se compilo con ament_cmake + rosidl_generate_interfaces para que el mensaje quede disponible en runtime.</a:t>
            </a:r>
            <a:endParaRPr lang="en-US" sz="1100" dirty="0"/>
          </a:p>
        </p:txBody>
      </p:sp>
      <p:sp>
        <p:nvSpPr>
          <p:cNvPr id="22" name="Text 19"/>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Equipo 1 - REPO    |    Mini Challenge 3 - PuzzleBot</a:t>
            </a:r>
            <a:endParaRPr lang="en-US" sz="900" dirty="0"/>
          </a:p>
        </p:txBody>
      </p:sp>
      <p:sp>
        <p:nvSpPr>
          <p:cNvPr id="23" name="Text 20"/>
          <p:cNvSpPr/>
          <p:nvPr/>
        </p:nvSpPr>
        <p:spPr>
          <a:xfrm>
            <a:off x="8412480" y="4846320"/>
            <a:ext cx="36576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4864" cy="502920"/>
          </a:xfrm>
          <a:prstGeom prst="rect">
            <a:avLst/>
          </a:prstGeom>
          <a:solidFill>
            <a:srgbClr val="00B4D8"/>
          </a:solidFill>
          <a:ln w="12700">
            <a:solidFill>
              <a:srgbClr val="00B4D8"/>
            </a:solidFill>
            <a:prstDash val="solid"/>
          </a:ln>
        </p:spPr>
      </p:sp>
      <p:sp>
        <p:nvSpPr>
          <p:cNvPr id="3" name="Text 1"/>
          <p:cNvSpPr/>
          <p:nvPr/>
        </p:nvSpPr>
        <p:spPr>
          <a:xfrm>
            <a:off x="640080" y="320040"/>
            <a:ext cx="8229600" cy="640080"/>
          </a:xfrm>
          <a:prstGeom prst="rect">
            <a:avLst/>
          </a:prstGeom>
          <a:noFill/>
          <a:ln/>
        </p:spPr>
        <p:txBody>
          <a:bodyPr wrap="square" lIns="0" tIns="0" rIns="0" bIns="0" rtlCol="0" anchor="ctr"/>
          <a:lstStyle/>
          <a:p>
            <a:pPr indent="0" marL="0">
              <a:buNone/>
            </a:pPr>
            <a:r>
              <a:rPr lang="en-US" sz="2600" b="1" dirty="0">
                <a:solidFill>
                  <a:srgbClr val="1A2332"/>
                </a:solidFill>
                <a:latin typeface="Calibri" pitchFamily="34" charset="0"/>
                <a:ea typeface="Calibri" pitchFamily="34" charset="-122"/>
                <a:cs typeface="Calibri" pitchFamily="34" charset="-120"/>
              </a:rPr>
              <a:t>Path Generator: validacion de alcanzabilidad</a:t>
            </a:r>
            <a:endParaRPr lang="en-US" sz="2600" dirty="0"/>
          </a:p>
        </p:txBody>
      </p:sp>
      <p:sp>
        <p:nvSpPr>
          <p:cNvPr id="4" name="Text 2"/>
          <p:cNvSpPr/>
          <p:nvPr/>
        </p:nvSpPr>
        <p:spPr>
          <a:xfrm>
            <a:off x="502920" y="1005840"/>
            <a:ext cx="8229600" cy="320040"/>
          </a:xfrm>
          <a:prstGeom prst="rect">
            <a:avLst/>
          </a:prstGeom>
          <a:noFill/>
          <a:ln/>
        </p:spPr>
        <p:txBody>
          <a:bodyPr wrap="square" lIns="0" tIns="0" rIns="0" bIns="0" rtlCol="0" anchor="ctr"/>
          <a:lstStyle/>
          <a:p>
            <a:pPr indent="0" marL="0">
              <a:buNone/>
            </a:pPr>
            <a:r>
              <a:rPr lang="en-US" sz="1200" i="1" dirty="0">
                <a:solidFill>
                  <a:srgbClr val="6B7785"/>
                </a:solidFill>
                <a:latin typeface="Calibri" pitchFamily="34" charset="0"/>
                <a:ea typeface="Calibri" pitchFamily="34" charset="-122"/>
                <a:cs typeface="Calibri" pitchFamily="34" charset="-120"/>
              </a:rPr>
              <a:t>Antes de publicar cualquier goal, se valida cada waypoint contra tres criterios:</a:t>
            </a:r>
            <a:endParaRPr lang="en-US" sz="1200" dirty="0"/>
          </a:p>
        </p:txBody>
      </p:sp>
      <p:sp>
        <p:nvSpPr>
          <p:cNvPr id="5" name="Shape 3"/>
          <p:cNvSpPr/>
          <p:nvPr/>
        </p:nvSpPr>
        <p:spPr>
          <a:xfrm>
            <a:off x="502920" y="1417320"/>
            <a:ext cx="2743200" cy="1691640"/>
          </a:xfrm>
          <a:prstGeom prst="rect">
            <a:avLst/>
          </a:prstGeom>
          <a:solidFill>
            <a:srgbClr val="F4F7FA"/>
          </a:solidFill>
          <a:ln w="9525">
            <a:solidFill>
              <a:srgbClr val="E5E9EE"/>
            </a:solidFill>
            <a:prstDash val="solid"/>
          </a:ln>
        </p:spPr>
      </p:sp>
      <p:sp>
        <p:nvSpPr>
          <p:cNvPr id="6" name="Shape 4"/>
          <p:cNvSpPr/>
          <p:nvPr/>
        </p:nvSpPr>
        <p:spPr>
          <a:xfrm>
            <a:off x="502920" y="1417320"/>
            <a:ext cx="2743200" cy="411480"/>
          </a:xfrm>
          <a:prstGeom prst="rect">
            <a:avLst/>
          </a:prstGeom>
          <a:solidFill>
            <a:srgbClr val="0077B6"/>
          </a:solidFill>
          <a:ln w="12700">
            <a:solidFill>
              <a:srgbClr val="0077B6"/>
            </a:solidFill>
            <a:prstDash val="solid"/>
          </a:ln>
        </p:spPr>
      </p:sp>
      <p:sp>
        <p:nvSpPr>
          <p:cNvPr id="7" name="Text 5"/>
          <p:cNvSpPr/>
          <p:nvPr/>
        </p:nvSpPr>
        <p:spPr>
          <a:xfrm>
            <a:off x="612648" y="1417320"/>
            <a:ext cx="25603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 Geometrico</a:t>
            </a:r>
            <a:endParaRPr lang="en-US" sz="1300" dirty="0"/>
          </a:p>
        </p:txBody>
      </p:sp>
      <p:sp>
        <p:nvSpPr>
          <p:cNvPr id="8" name="Text 6"/>
          <p:cNvSpPr/>
          <p:nvPr/>
        </p:nvSpPr>
        <p:spPr>
          <a:xfrm>
            <a:off x="640080" y="1920240"/>
            <a:ext cx="2468880" cy="1143000"/>
          </a:xfrm>
          <a:prstGeom prst="rect">
            <a:avLst/>
          </a:prstGeom>
          <a:noFill/>
          <a:ln/>
        </p:spPr>
        <p:txBody>
          <a:bodyPr wrap="square" lIns="0" tIns="0" rIns="0" bIns="0" rtlCol="0" anchor="t"/>
          <a:lstStyle/>
          <a:p>
            <a:pPr indent="0" marL="0">
              <a:buNone/>
            </a:pPr>
            <a:r>
              <a:rPr lang="en-US" sz="1100" dirty="0">
                <a:solidFill>
                  <a:srgbClr val="1A2332"/>
                </a:solidFill>
                <a:latin typeface="Calibri" pitchFamily="34" charset="0"/>
                <a:ea typeface="Calibri" pitchFamily="34" charset="-122"/>
                <a:cs typeface="Calibri" pitchFamily="34" charset="-120"/>
              </a:rPr>
              <a:t>El punto cae dentro del bounding box del workspace declarado en el YAML.</a:t>
            </a:r>
            <a:endParaRPr lang="en-US" sz="1100" dirty="0"/>
          </a:p>
        </p:txBody>
      </p:sp>
      <p:sp>
        <p:nvSpPr>
          <p:cNvPr id="9" name="Shape 7"/>
          <p:cNvSpPr/>
          <p:nvPr/>
        </p:nvSpPr>
        <p:spPr>
          <a:xfrm>
            <a:off x="3383280" y="1417320"/>
            <a:ext cx="2743200" cy="1691640"/>
          </a:xfrm>
          <a:prstGeom prst="rect">
            <a:avLst/>
          </a:prstGeom>
          <a:solidFill>
            <a:srgbClr val="F4F7FA"/>
          </a:solidFill>
          <a:ln w="9525">
            <a:solidFill>
              <a:srgbClr val="E5E9EE"/>
            </a:solidFill>
            <a:prstDash val="solid"/>
          </a:ln>
        </p:spPr>
      </p:sp>
      <p:sp>
        <p:nvSpPr>
          <p:cNvPr id="10" name="Shape 8"/>
          <p:cNvSpPr/>
          <p:nvPr/>
        </p:nvSpPr>
        <p:spPr>
          <a:xfrm>
            <a:off x="3383280" y="1417320"/>
            <a:ext cx="2743200" cy="411480"/>
          </a:xfrm>
          <a:prstGeom prst="rect">
            <a:avLst/>
          </a:prstGeom>
          <a:solidFill>
            <a:srgbClr val="0077B6"/>
          </a:solidFill>
          <a:ln w="12700">
            <a:solidFill>
              <a:srgbClr val="0077B6"/>
            </a:solidFill>
            <a:prstDash val="solid"/>
          </a:ln>
        </p:spPr>
      </p:sp>
      <p:sp>
        <p:nvSpPr>
          <p:cNvPr id="11" name="Text 9"/>
          <p:cNvSpPr/>
          <p:nvPr/>
        </p:nvSpPr>
        <p:spPr>
          <a:xfrm>
            <a:off x="3493008" y="1417320"/>
            <a:ext cx="25603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 Cinematico</a:t>
            </a:r>
            <a:endParaRPr lang="en-US" sz="1300" dirty="0"/>
          </a:p>
        </p:txBody>
      </p:sp>
      <p:sp>
        <p:nvSpPr>
          <p:cNvPr id="12" name="Text 10"/>
          <p:cNvSpPr/>
          <p:nvPr/>
        </p:nvSpPr>
        <p:spPr>
          <a:xfrm>
            <a:off x="3520440" y="1920240"/>
            <a:ext cx="2468880" cy="1143000"/>
          </a:xfrm>
          <a:prstGeom prst="rect">
            <a:avLst/>
          </a:prstGeom>
          <a:noFill/>
          <a:ln/>
        </p:spPr>
        <p:txBody>
          <a:bodyPr wrap="square" lIns="0" tIns="0" rIns="0" bIns="0" rtlCol="0" anchor="t"/>
          <a:lstStyle/>
          <a:p>
            <a:pPr indent="0" marL="0">
              <a:buNone/>
            </a:pPr>
            <a:r>
              <a:rPr lang="en-US" sz="1100" dirty="0">
                <a:solidFill>
                  <a:srgbClr val="1A2332"/>
                </a:solidFill>
                <a:latin typeface="Calibri" pitchFamily="34" charset="0"/>
                <a:ea typeface="Calibri" pitchFamily="34" charset="-122"/>
                <a:cs typeface="Calibri" pitchFamily="34" charset="-120"/>
              </a:rPr>
              <a:t>Para un robot diferencial todo (x, y) en el plano es alcanzable; este criterio siempre pasa.</a:t>
            </a:r>
            <a:endParaRPr lang="en-US" sz="1100" dirty="0"/>
          </a:p>
        </p:txBody>
      </p:sp>
      <p:sp>
        <p:nvSpPr>
          <p:cNvPr id="13" name="Shape 11"/>
          <p:cNvSpPr/>
          <p:nvPr/>
        </p:nvSpPr>
        <p:spPr>
          <a:xfrm>
            <a:off x="6263640" y="1417320"/>
            <a:ext cx="2743200" cy="1691640"/>
          </a:xfrm>
          <a:prstGeom prst="rect">
            <a:avLst/>
          </a:prstGeom>
          <a:solidFill>
            <a:srgbClr val="F4F7FA"/>
          </a:solidFill>
          <a:ln w="9525">
            <a:solidFill>
              <a:srgbClr val="E5E9EE"/>
            </a:solidFill>
            <a:prstDash val="solid"/>
          </a:ln>
        </p:spPr>
      </p:sp>
      <p:sp>
        <p:nvSpPr>
          <p:cNvPr id="14" name="Shape 12"/>
          <p:cNvSpPr/>
          <p:nvPr/>
        </p:nvSpPr>
        <p:spPr>
          <a:xfrm>
            <a:off x="6263640" y="1417320"/>
            <a:ext cx="2743200" cy="411480"/>
          </a:xfrm>
          <a:prstGeom prst="rect">
            <a:avLst/>
          </a:prstGeom>
          <a:solidFill>
            <a:srgbClr val="0077B6"/>
          </a:solidFill>
          <a:ln w="12700">
            <a:solidFill>
              <a:srgbClr val="0077B6"/>
            </a:solidFill>
            <a:prstDash val="solid"/>
          </a:ln>
        </p:spPr>
      </p:sp>
      <p:sp>
        <p:nvSpPr>
          <p:cNvPr id="15" name="Text 13"/>
          <p:cNvSpPr/>
          <p:nvPr/>
        </p:nvSpPr>
        <p:spPr>
          <a:xfrm>
            <a:off x="6373368" y="1417320"/>
            <a:ext cx="25603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Dinamico</a:t>
            </a:r>
            <a:endParaRPr lang="en-US" sz="1300" dirty="0"/>
          </a:p>
        </p:txBody>
      </p:sp>
      <p:sp>
        <p:nvSpPr>
          <p:cNvPr id="16" name="Text 14"/>
          <p:cNvSpPr/>
          <p:nvPr/>
        </p:nvSpPr>
        <p:spPr>
          <a:xfrm>
            <a:off x="6400800" y="1920240"/>
            <a:ext cx="2468880" cy="1143000"/>
          </a:xfrm>
          <a:prstGeom prst="rect">
            <a:avLst/>
          </a:prstGeom>
          <a:noFill/>
          <a:ln/>
        </p:spPr>
        <p:txBody>
          <a:bodyPr wrap="square" lIns="0" tIns="0" rIns="0" bIns="0" rtlCol="0" anchor="t"/>
          <a:lstStyle/>
          <a:p>
            <a:pPr indent="0" marL="0">
              <a:buNone/>
            </a:pPr>
            <a:r>
              <a:rPr lang="en-US" sz="1100" dirty="0">
                <a:solidFill>
                  <a:srgbClr val="1A2332"/>
                </a:solidFill>
                <a:latin typeface="Calibri" pitchFamily="34" charset="0"/>
                <a:ea typeface="Calibri" pitchFamily="34" charset="-122"/>
                <a:cs typeface="Calibri" pitchFamily="34" charset="-120"/>
              </a:rPr>
              <a:t>El tiempo estimado a v_max no excede el timeout configurado para el goal.</a:t>
            </a:r>
            <a:endParaRPr lang="en-US" sz="1100" dirty="0"/>
          </a:p>
        </p:txBody>
      </p:sp>
      <p:sp>
        <p:nvSpPr>
          <p:cNvPr id="17" name="Text 15"/>
          <p:cNvSpPr/>
          <p:nvPr/>
        </p:nvSpPr>
        <p:spPr>
          <a:xfrm>
            <a:off x="502920" y="3246120"/>
            <a:ext cx="8229600" cy="274320"/>
          </a:xfrm>
          <a:prstGeom prst="rect">
            <a:avLst/>
          </a:prstGeom>
          <a:noFill/>
          <a:ln/>
        </p:spPr>
        <p:txBody>
          <a:bodyPr wrap="square" lIns="0" tIns="0" rIns="0" bIns="0" rtlCol="0" anchor="ctr"/>
          <a:lstStyle/>
          <a:p>
            <a:pPr indent="0" marL="0">
              <a:buNone/>
            </a:pPr>
            <a:r>
              <a:rPr lang="en-US" sz="1100" b="1" dirty="0">
                <a:solidFill>
                  <a:srgbClr val="1A2332"/>
                </a:solidFill>
                <a:latin typeface="Calibri" pitchFamily="34" charset="0"/>
                <a:ea typeface="Calibri" pitchFamily="34" charset="-122"/>
                <a:cs typeface="Calibri" pitchFamily="34" charset="-120"/>
              </a:rPr>
              <a:t>Salida real durante la validacion:</a:t>
            </a:r>
            <a:endParaRPr lang="en-US" sz="1100" dirty="0"/>
          </a:p>
        </p:txBody>
      </p:sp>
      <p:sp>
        <p:nvSpPr>
          <p:cNvPr id="18" name="Shape 16"/>
          <p:cNvSpPr/>
          <p:nvPr/>
        </p:nvSpPr>
        <p:spPr>
          <a:xfrm>
            <a:off x="502920" y="3520440"/>
            <a:ext cx="8229600" cy="1188720"/>
          </a:xfrm>
          <a:prstGeom prst="rect">
            <a:avLst/>
          </a:prstGeom>
          <a:solidFill>
            <a:srgbClr val="0F2438"/>
          </a:solidFill>
          <a:ln w="12700">
            <a:solidFill>
              <a:srgbClr val="0F2438"/>
            </a:solidFill>
            <a:prstDash val="solid"/>
          </a:ln>
        </p:spPr>
      </p:sp>
      <p:sp>
        <p:nvSpPr>
          <p:cNvPr id="19" name="Text 17"/>
          <p:cNvSpPr/>
          <p:nvPr/>
        </p:nvSpPr>
        <p:spPr>
          <a:xfrm>
            <a:off x="640080" y="3611880"/>
            <a:ext cx="7955280" cy="1005840"/>
          </a:xfrm>
          <a:prstGeom prst="rect">
            <a:avLst/>
          </a:prstGeom>
          <a:noFill/>
          <a:ln/>
        </p:spPr>
        <p:txBody>
          <a:bodyPr wrap="square" lIns="0" tIns="0" rIns="0" bIns="0" rtlCol="0" anchor="t"/>
          <a:lstStyle/>
          <a:p>
            <a:pPr indent="0" marL="0">
              <a:buNone/>
            </a:pPr>
            <a:r>
              <a:rPr lang="en-US" sz="1050" dirty="0">
                <a:solidFill>
                  <a:srgbClr val="E2E8F0"/>
                </a:solidFill>
                <a:latin typeface="Consolas" pitchFamily="34" charset="0"/>
                <a:ea typeface="Consolas" pitchFamily="34" charset="-122"/>
                <a:cs typeface="Consolas" pitchFamily="34" charset="-120"/>
              </a:rPr>
              <a:t>[path_generator] --- Validacion de alcanzabilidad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[path_generator]   OK     wp0 (+2.00, +0.00) -&gt; ok</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[path_generator]   OK     wp1 (+2.00, +2.00) -&gt; ok</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[path_generator]   OK     wp2 (+0.00, +2.00) -&gt; ok</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[path_generator]   OK     wp3 (+0.00, +0.00) -&gt; ok</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[path_generator] --- Todos los waypoints alcanzables ---</a:t>
            </a:r>
            <a:endParaRPr lang="en-US" sz="1050" dirty="0"/>
          </a:p>
        </p:txBody>
      </p:sp>
      <p:sp>
        <p:nvSpPr>
          <p:cNvPr id="20" name="Text 18"/>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Equipo 1 - REPO    |    Mini Challenge 3 - PuzzleBot</a:t>
            </a:r>
            <a:endParaRPr lang="en-US" sz="900" dirty="0"/>
          </a:p>
        </p:txBody>
      </p:sp>
      <p:sp>
        <p:nvSpPr>
          <p:cNvPr id="21" name="Text 19"/>
          <p:cNvSpPr/>
          <p:nvPr/>
        </p:nvSpPr>
        <p:spPr>
          <a:xfrm>
            <a:off x="8412480" y="4846320"/>
            <a:ext cx="36576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4864" cy="502920"/>
          </a:xfrm>
          <a:prstGeom prst="rect">
            <a:avLst/>
          </a:prstGeom>
          <a:solidFill>
            <a:srgbClr val="00B4D8"/>
          </a:solidFill>
          <a:ln w="12700">
            <a:solidFill>
              <a:srgbClr val="00B4D8"/>
            </a:solidFill>
            <a:prstDash val="solid"/>
          </a:ln>
        </p:spPr>
      </p:sp>
      <p:sp>
        <p:nvSpPr>
          <p:cNvPr id="3" name="Text 1"/>
          <p:cNvSpPr/>
          <p:nvPr/>
        </p:nvSpPr>
        <p:spPr>
          <a:xfrm>
            <a:off x="640080" y="320040"/>
            <a:ext cx="8229600" cy="640080"/>
          </a:xfrm>
          <a:prstGeom prst="rect">
            <a:avLst/>
          </a:prstGeom>
          <a:noFill/>
          <a:ln/>
        </p:spPr>
        <p:txBody>
          <a:bodyPr wrap="square" lIns="0" tIns="0" rIns="0" bIns="0" rtlCol="0" anchor="ctr"/>
          <a:lstStyle/>
          <a:p>
            <a:pPr indent="0" marL="0">
              <a:buNone/>
            </a:pPr>
            <a:r>
              <a:rPr lang="en-US" sz="2600" b="1" dirty="0">
                <a:solidFill>
                  <a:srgbClr val="1A2332"/>
                </a:solidFill>
                <a:latin typeface="Calibri" pitchFamily="34" charset="0"/>
                <a:ea typeface="Calibri" pitchFamily="34" charset="-122"/>
                <a:cs typeface="Calibri" pitchFamily="34" charset="-120"/>
              </a:rPr>
              <a:t>Controlador PID: dos modos implementados</a:t>
            </a:r>
            <a:endParaRPr lang="en-US" sz="2600" dirty="0"/>
          </a:p>
        </p:txBody>
      </p:sp>
      <p:sp>
        <p:nvSpPr>
          <p:cNvPr id="4" name="Text 2"/>
          <p:cNvSpPr/>
          <p:nvPr/>
        </p:nvSpPr>
        <p:spPr>
          <a:xfrm>
            <a:off x="502920" y="1005840"/>
            <a:ext cx="8229600" cy="274320"/>
          </a:xfrm>
          <a:prstGeom prst="rect">
            <a:avLst/>
          </a:prstGeom>
          <a:noFill/>
          <a:ln/>
        </p:spPr>
        <p:txBody>
          <a:bodyPr wrap="square" lIns="0" tIns="0" rIns="0" bIns="0" rtlCol="0" anchor="ctr"/>
          <a:lstStyle/>
          <a:p>
            <a:pPr indent="0" marL="0">
              <a:buNone/>
            </a:pPr>
            <a:r>
              <a:rPr lang="en-US" sz="1200" i="1" dirty="0">
                <a:solidFill>
                  <a:srgbClr val="6B7785"/>
                </a:solidFill>
                <a:latin typeface="Calibri" pitchFamily="34" charset="0"/>
                <a:ea typeface="Calibri" pitchFamily="34" charset="-122"/>
                <a:cs typeface="Calibri" pitchFamily="34" charset="-120"/>
              </a:rPr>
              <a:t>Se implementaron y compararon dos estrategias de control de pose seleccionables por parametro.</a:t>
            </a:r>
            <a:endParaRPr lang="en-US" sz="1200" dirty="0"/>
          </a:p>
        </p:txBody>
      </p:sp>
      <p:sp>
        <p:nvSpPr>
          <p:cNvPr id="5" name="Shape 3"/>
          <p:cNvSpPr/>
          <p:nvPr/>
        </p:nvSpPr>
        <p:spPr>
          <a:xfrm>
            <a:off x="502920" y="1417320"/>
            <a:ext cx="4023360" cy="3200400"/>
          </a:xfrm>
          <a:prstGeom prst="rect">
            <a:avLst/>
          </a:prstGeom>
          <a:solidFill>
            <a:srgbClr val="F4F7FA"/>
          </a:solidFill>
          <a:ln w="9525">
            <a:solidFill>
              <a:srgbClr val="E5E9EE"/>
            </a:solidFill>
            <a:prstDash val="solid"/>
          </a:ln>
        </p:spPr>
      </p:sp>
      <p:sp>
        <p:nvSpPr>
          <p:cNvPr id="6" name="Shape 4"/>
          <p:cNvSpPr/>
          <p:nvPr/>
        </p:nvSpPr>
        <p:spPr>
          <a:xfrm>
            <a:off x="502920" y="1417320"/>
            <a:ext cx="4023360" cy="457200"/>
          </a:xfrm>
          <a:prstGeom prst="rect">
            <a:avLst/>
          </a:prstGeom>
          <a:solidFill>
            <a:srgbClr val="0077B6"/>
          </a:solidFill>
          <a:ln w="12700">
            <a:solidFill>
              <a:srgbClr val="0077B6"/>
            </a:solidFill>
            <a:prstDash val="solid"/>
          </a:ln>
        </p:spPr>
      </p:sp>
      <p:sp>
        <p:nvSpPr>
          <p:cNvPr id="7" name="Text 5"/>
          <p:cNvSpPr/>
          <p:nvPr/>
        </p:nvSpPr>
        <p:spPr>
          <a:xfrm>
            <a:off x="640080" y="1417320"/>
            <a:ext cx="3749040" cy="457200"/>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MODO SECUENCIAL</a:t>
            </a:r>
            <a:endParaRPr lang="en-US" sz="1300" dirty="0"/>
          </a:p>
        </p:txBody>
      </p:sp>
      <p:sp>
        <p:nvSpPr>
          <p:cNvPr id="8" name="Text 6"/>
          <p:cNvSpPr/>
          <p:nvPr/>
        </p:nvSpPr>
        <p:spPr>
          <a:xfrm>
            <a:off x="685800" y="1965960"/>
            <a:ext cx="3749040" cy="274320"/>
          </a:xfrm>
          <a:prstGeom prst="rect">
            <a:avLst/>
          </a:prstGeom>
          <a:noFill/>
          <a:ln/>
        </p:spPr>
        <p:txBody>
          <a:bodyPr wrap="square" lIns="0" tIns="0" rIns="0" bIns="0" rtlCol="0" anchor="ctr"/>
          <a:lstStyle/>
          <a:p>
            <a:pPr indent="0" marL="0">
              <a:buNone/>
            </a:pPr>
            <a:r>
              <a:rPr lang="en-US" sz="1100" i="1" dirty="0">
                <a:solidFill>
                  <a:srgbClr val="6B7785"/>
                </a:solidFill>
                <a:latin typeface="Calibri" pitchFamily="34" charset="0"/>
                <a:ea typeface="Calibri" pitchFamily="34" charset="-122"/>
                <a:cs typeface="Calibri" pitchFamily="34" charset="-120"/>
              </a:rPr>
              <a:t>FSM con estados aislados</a:t>
            </a:r>
            <a:endParaRPr lang="en-US" sz="1100" dirty="0"/>
          </a:p>
        </p:txBody>
      </p:sp>
      <p:sp>
        <p:nvSpPr>
          <p:cNvPr id="9" name="Shape 7"/>
          <p:cNvSpPr/>
          <p:nvPr/>
        </p:nvSpPr>
        <p:spPr>
          <a:xfrm>
            <a:off x="685800" y="2286000"/>
            <a:ext cx="3749040" cy="411480"/>
          </a:xfrm>
          <a:prstGeom prst="rect">
            <a:avLst/>
          </a:prstGeom>
          <a:solidFill>
            <a:srgbClr val="FFFFFF"/>
          </a:solidFill>
          <a:ln w="12700">
            <a:solidFill>
              <a:srgbClr val="0077B6"/>
            </a:solidFill>
            <a:prstDash val="solid"/>
          </a:ln>
        </p:spPr>
      </p:sp>
      <p:sp>
        <p:nvSpPr>
          <p:cNvPr id="10" name="Text 8"/>
          <p:cNvSpPr/>
          <p:nvPr/>
        </p:nvSpPr>
        <p:spPr>
          <a:xfrm>
            <a:off x="685800" y="2286000"/>
            <a:ext cx="3749040" cy="411480"/>
          </a:xfrm>
          <a:prstGeom prst="rect">
            <a:avLst/>
          </a:prstGeom>
          <a:noFill/>
          <a:ln/>
        </p:spPr>
        <p:txBody>
          <a:bodyPr wrap="square" lIns="0" tIns="0" rIns="0" bIns="0" rtlCol="0" anchor="ctr"/>
          <a:lstStyle/>
          <a:p>
            <a:pPr algn="ctr" indent="0" marL="0">
              <a:buNone/>
            </a:pPr>
            <a:r>
              <a:rPr lang="en-US" sz="1000" dirty="0">
                <a:solidFill>
                  <a:srgbClr val="0077B6"/>
                </a:solidFill>
                <a:latin typeface="Consolas" pitchFamily="34" charset="0"/>
                <a:ea typeface="Consolas" pitchFamily="34" charset="-122"/>
                <a:cs typeface="Consolas" pitchFamily="34" charset="-120"/>
              </a:rPr>
              <a:t>ROTATE_TO_GOAL  -&gt;  MOVE_TO_GOAL  -&gt;  HOLD</a:t>
            </a:r>
            <a:endParaRPr lang="en-US" sz="1000" dirty="0"/>
          </a:p>
        </p:txBody>
      </p:sp>
      <p:sp>
        <p:nvSpPr>
          <p:cNvPr id="11" name="Text 9"/>
          <p:cNvSpPr/>
          <p:nvPr/>
        </p:nvSpPr>
        <p:spPr>
          <a:xfrm>
            <a:off x="731520" y="2834640"/>
            <a:ext cx="3703320" cy="169164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Primero gira en el lugar hasta alinearse al goal.</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Luego avanza recto con correccion angular suave.</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Dos PIDs aislados: uno angular, uno lineal.</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Mas preciso al llegar al waypoint.</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Movimiento mas marcado, tipo cuadrado.</a:t>
            </a:r>
            <a:endParaRPr lang="en-US" sz="1100" dirty="0"/>
          </a:p>
        </p:txBody>
      </p:sp>
      <p:sp>
        <p:nvSpPr>
          <p:cNvPr id="12" name="Shape 10"/>
          <p:cNvSpPr/>
          <p:nvPr/>
        </p:nvSpPr>
        <p:spPr>
          <a:xfrm>
            <a:off x="4617720" y="1417320"/>
            <a:ext cx="4023360" cy="3200400"/>
          </a:xfrm>
          <a:prstGeom prst="rect">
            <a:avLst/>
          </a:prstGeom>
          <a:solidFill>
            <a:srgbClr val="F4F7FA"/>
          </a:solidFill>
          <a:ln w="9525">
            <a:solidFill>
              <a:srgbClr val="E5E9EE"/>
            </a:solidFill>
            <a:prstDash val="solid"/>
          </a:ln>
        </p:spPr>
      </p:sp>
      <p:sp>
        <p:nvSpPr>
          <p:cNvPr id="13" name="Shape 11"/>
          <p:cNvSpPr/>
          <p:nvPr/>
        </p:nvSpPr>
        <p:spPr>
          <a:xfrm>
            <a:off x="4617720" y="1417320"/>
            <a:ext cx="4023360" cy="457200"/>
          </a:xfrm>
          <a:prstGeom prst="rect">
            <a:avLst/>
          </a:prstGeom>
          <a:solidFill>
            <a:srgbClr val="00B4D8"/>
          </a:solidFill>
          <a:ln w="12700">
            <a:solidFill>
              <a:srgbClr val="00B4D8"/>
            </a:solidFill>
            <a:prstDash val="solid"/>
          </a:ln>
        </p:spPr>
      </p:sp>
      <p:sp>
        <p:nvSpPr>
          <p:cNvPr id="14" name="Text 12"/>
          <p:cNvSpPr/>
          <p:nvPr/>
        </p:nvSpPr>
        <p:spPr>
          <a:xfrm>
            <a:off x="4754880" y="1417320"/>
            <a:ext cx="3749040" cy="457200"/>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MODO SIMULTANEO</a:t>
            </a:r>
            <a:endParaRPr lang="en-US" sz="1300" dirty="0"/>
          </a:p>
        </p:txBody>
      </p:sp>
      <p:sp>
        <p:nvSpPr>
          <p:cNvPr id="15" name="Text 13"/>
          <p:cNvSpPr/>
          <p:nvPr/>
        </p:nvSpPr>
        <p:spPr>
          <a:xfrm>
            <a:off x="4800600" y="1965960"/>
            <a:ext cx="3749040" cy="274320"/>
          </a:xfrm>
          <a:prstGeom prst="rect">
            <a:avLst/>
          </a:prstGeom>
          <a:noFill/>
          <a:ln/>
        </p:spPr>
        <p:txBody>
          <a:bodyPr wrap="square" lIns="0" tIns="0" rIns="0" bIns="0" rtlCol="0" anchor="ctr"/>
          <a:lstStyle/>
          <a:p>
            <a:pPr indent="0" marL="0">
              <a:buNone/>
            </a:pPr>
            <a:r>
              <a:rPr lang="en-US" sz="1100" i="1" dirty="0">
                <a:solidFill>
                  <a:srgbClr val="6B7785"/>
                </a:solidFill>
                <a:latin typeface="Calibri" pitchFamily="34" charset="0"/>
                <a:ea typeface="Calibri" pitchFamily="34" charset="-122"/>
                <a:cs typeface="Calibri" pitchFamily="34" charset="-120"/>
              </a:rPr>
              <a:t>Unicycle con escalamiento</a:t>
            </a:r>
            <a:endParaRPr lang="en-US" sz="1100" dirty="0"/>
          </a:p>
        </p:txBody>
      </p:sp>
      <p:sp>
        <p:nvSpPr>
          <p:cNvPr id="16" name="Shape 14"/>
          <p:cNvSpPr/>
          <p:nvPr/>
        </p:nvSpPr>
        <p:spPr>
          <a:xfrm>
            <a:off x="4800600" y="2286000"/>
            <a:ext cx="3749040" cy="411480"/>
          </a:xfrm>
          <a:prstGeom prst="rect">
            <a:avLst/>
          </a:prstGeom>
          <a:solidFill>
            <a:srgbClr val="FFFFFF"/>
          </a:solidFill>
          <a:ln w="12700">
            <a:solidFill>
              <a:srgbClr val="00B4D8"/>
            </a:solidFill>
            <a:prstDash val="solid"/>
          </a:ln>
        </p:spPr>
      </p:sp>
      <p:sp>
        <p:nvSpPr>
          <p:cNvPr id="17" name="Text 15"/>
          <p:cNvSpPr/>
          <p:nvPr/>
        </p:nvSpPr>
        <p:spPr>
          <a:xfrm>
            <a:off x="4800600" y="2286000"/>
            <a:ext cx="3749040" cy="411480"/>
          </a:xfrm>
          <a:prstGeom prst="rect">
            <a:avLst/>
          </a:prstGeom>
          <a:noFill/>
          <a:ln/>
        </p:spPr>
        <p:txBody>
          <a:bodyPr wrap="square" lIns="0" tIns="0" rIns="0" bIns="0" rtlCol="0" anchor="ctr"/>
          <a:lstStyle/>
          <a:p>
            <a:pPr algn="ctr" indent="0" marL="0">
              <a:buNone/>
            </a:pPr>
            <a:r>
              <a:rPr lang="en-US" sz="1000" dirty="0">
                <a:solidFill>
                  <a:srgbClr val="0077B6"/>
                </a:solidFill>
                <a:latin typeface="Consolas" pitchFamily="34" charset="0"/>
                <a:ea typeface="Consolas" pitchFamily="34" charset="-122"/>
                <a:cs typeface="Consolas" pitchFamily="34" charset="-120"/>
              </a:rPr>
              <a:t>v = cos(ang_error) * PID_lin(dist)</a:t>
            </a:r>
            <a:endParaRPr lang="en-US" sz="1000" dirty="0"/>
          </a:p>
        </p:txBody>
      </p:sp>
      <p:sp>
        <p:nvSpPr>
          <p:cNvPr id="18" name="Text 16"/>
          <p:cNvSpPr/>
          <p:nvPr/>
        </p:nvSpPr>
        <p:spPr>
          <a:xfrm>
            <a:off x="4846320" y="2834640"/>
            <a:ext cx="3703320" cy="169164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v y w se calculan al mismo tiempo.</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Cuando el angulo esta mal, la v se reduce.</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Movimiento fluido, traza arcos en lugar de aristas.</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Mejor tiempo total y suavidad.</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Ligeramente menos preciso en la llegada al goal.</a:t>
            </a:r>
            <a:endParaRPr lang="en-US" sz="1100" dirty="0"/>
          </a:p>
        </p:txBody>
      </p:sp>
      <p:sp>
        <p:nvSpPr>
          <p:cNvPr id="19" name="Text 17"/>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Equipo 1 - REPO    |    Mini Challenge 3 - PuzzleBot</a:t>
            </a:r>
            <a:endParaRPr lang="en-US" sz="900" dirty="0"/>
          </a:p>
        </p:txBody>
      </p:sp>
      <p:sp>
        <p:nvSpPr>
          <p:cNvPr id="20" name="Text 18"/>
          <p:cNvSpPr/>
          <p:nvPr/>
        </p:nvSpPr>
        <p:spPr>
          <a:xfrm>
            <a:off x="8412480" y="4846320"/>
            <a:ext cx="36576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4864" cy="502920"/>
          </a:xfrm>
          <a:prstGeom prst="rect">
            <a:avLst/>
          </a:prstGeom>
          <a:solidFill>
            <a:srgbClr val="00B4D8"/>
          </a:solidFill>
          <a:ln w="12700">
            <a:solidFill>
              <a:srgbClr val="00B4D8"/>
            </a:solidFill>
            <a:prstDash val="solid"/>
          </a:ln>
        </p:spPr>
      </p:sp>
      <p:sp>
        <p:nvSpPr>
          <p:cNvPr id="3" name="Text 1"/>
          <p:cNvSpPr/>
          <p:nvPr/>
        </p:nvSpPr>
        <p:spPr>
          <a:xfrm>
            <a:off x="640080" y="320040"/>
            <a:ext cx="8229600" cy="640080"/>
          </a:xfrm>
          <a:prstGeom prst="rect">
            <a:avLst/>
          </a:prstGeom>
          <a:noFill/>
          <a:ln/>
        </p:spPr>
        <p:txBody>
          <a:bodyPr wrap="square" lIns="0" tIns="0" rIns="0" bIns="0" rtlCol="0" anchor="ctr"/>
          <a:lstStyle/>
          <a:p>
            <a:pPr indent="0" marL="0">
              <a:buNone/>
            </a:pPr>
            <a:r>
              <a:rPr lang="en-US" sz="2600" b="1" dirty="0">
                <a:solidFill>
                  <a:srgbClr val="1A2332"/>
                </a:solidFill>
                <a:latin typeface="Calibri" pitchFamily="34" charset="0"/>
                <a:ea typeface="Calibri" pitchFamily="34" charset="-122"/>
                <a:cs typeface="Calibri" pitchFamily="34" charset="-120"/>
              </a:rPr>
              <a:t>Metodologia de sintonizacion</a:t>
            </a:r>
            <a:endParaRPr lang="en-US" sz="2600" dirty="0"/>
          </a:p>
        </p:txBody>
      </p:sp>
      <p:sp>
        <p:nvSpPr>
          <p:cNvPr id="4" name="Text 2"/>
          <p:cNvSpPr/>
          <p:nvPr/>
        </p:nvSpPr>
        <p:spPr>
          <a:xfrm>
            <a:off x="502920" y="1005840"/>
            <a:ext cx="8229600" cy="274320"/>
          </a:xfrm>
          <a:prstGeom prst="rect">
            <a:avLst/>
          </a:prstGeom>
          <a:noFill/>
          <a:ln/>
        </p:spPr>
        <p:txBody>
          <a:bodyPr wrap="square" lIns="0" tIns="0" rIns="0" bIns="0" rtlCol="0" anchor="ctr"/>
          <a:lstStyle/>
          <a:p>
            <a:pPr indent="0" marL="0">
              <a:buNone/>
            </a:pPr>
            <a:r>
              <a:rPr lang="en-US" sz="1200" i="1" dirty="0">
                <a:solidFill>
                  <a:srgbClr val="6B7785"/>
                </a:solidFill>
                <a:latin typeface="Calibri" pitchFamily="34" charset="0"/>
                <a:ea typeface="Calibri" pitchFamily="34" charset="-122"/>
                <a:cs typeface="Calibri" pitchFamily="34" charset="-120"/>
              </a:rPr>
              <a:t>Se siguio una sintonizacion empirica e incremental directamente sobre el robot fisico:</a:t>
            </a:r>
            <a:endParaRPr lang="en-US" sz="1200" dirty="0"/>
          </a:p>
        </p:txBody>
      </p:sp>
      <p:sp>
        <p:nvSpPr>
          <p:cNvPr id="5" name="Shape 3"/>
          <p:cNvSpPr/>
          <p:nvPr/>
        </p:nvSpPr>
        <p:spPr>
          <a:xfrm>
            <a:off x="502920" y="1417320"/>
            <a:ext cx="4023360" cy="1508760"/>
          </a:xfrm>
          <a:prstGeom prst="rect">
            <a:avLst/>
          </a:prstGeom>
          <a:solidFill>
            <a:srgbClr val="F4F7FA"/>
          </a:solidFill>
          <a:ln w="9525">
            <a:solidFill>
              <a:srgbClr val="E5E9EE"/>
            </a:solidFill>
            <a:prstDash val="solid"/>
          </a:ln>
        </p:spPr>
      </p:sp>
      <p:sp>
        <p:nvSpPr>
          <p:cNvPr id="6" name="Shape 4"/>
          <p:cNvSpPr/>
          <p:nvPr/>
        </p:nvSpPr>
        <p:spPr>
          <a:xfrm>
            <a:off x="667512" y="1581912"/>
            <a:ext cx="566928" cy="566928"/>
          </a:xfrm>
          <a:prstGeom prst="rect">
            <a:avLst/>
          </a:prstGeom>
          <a:solidFill>
            <a:srgbClr val="0077B6"/>
          </a:solidFill>
          <a:ln w="12700">
            <a:solidFill>
              <a:srgbClr val="0077B6"/>
            </a:solidFill>
            <a:prstDash val="solid"/>
          </a:ln>
        </p:spPr>
      </p:sp>
      <p:sp>
        <p:nvSpPr>
          <p:cNvPr id="7" name="Text 5"/>
          <p:cNvSpPr/>
          <p:nvPr/>
        </p:nvSpPr>
        <p:spPr>
          <a:xfrm>
            <a:off x="667512" y="1581912"/>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8" name="Text 6"/>
          <p:cNvSpPr/>
          <p:nvPr/>
        </p:nvSpPr>
        <p:spPr>
          <a:xfrm>
            <a:off x="1280160" y="1600200"/>
            <a:ext cx="3108960" cy="36576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P puro angular</a:t>
            </a:r>
            <a:endParaRPr lang="en-US" sz="1400" dirty="0"/>
          </a:p>
        </p:txBody>
      </p:sp>
      <p:sp>
        <p:nvSpPr>
          <p:cNvPr id="9" name="Text 7"/>
          <p:cNvSpPr/>
          <p:nvPr/>
        </p:nvSpPr>
        <p:spPr>
          <a:xfrm>
            <a:off x="685800" y="2194560"/>
            <a:ext cx="3657600" cy="685800"/>
          </a:xfrm>
          <a:prstGeom prst="rect">
            <a:avLst/>
          </a:prstGeom>
          <a:noFill/>
          <a:ln/>
        </p:spPr>
        <p:txBody>
          <a:bodyPr wrap="square" lIns="0" tIns="0" rIns="0" bIns="0" rtlCol="0" anchor="t"/>
          <a:lstStyle/>
          <a:p>
            <a:pPr indent="0" marL="0">
              <a:buNone/>
            </a:pPr>
            <a:r>
              <a:rPr lang="en-US" sz="1100" dirty="0">
                <a:solidFill>
                  <a:srgbClr val="1A2332"/>
                </a:solidFill>
                <a:latin typeface="Calibri" pitchFamily="34" charset="0"/>
                <a:ea typeface="Calibri" pitchFamily="34" charset="-122"/>
                <a:cs typeface="Calibri" pitchFamily="34" charset="-120"/>
              </a:rPr>
              <a:t>Se subio kp_ang con goals que requirieran solo rotacion, hasta detectar overshoot leve. Se redujo al 60% del valor critico.</a:t>
            </a:r>
            <a:endParaRPr lang="en-US" sz="1100" dirty="0"/>
          </a:p>
        </p:txBody>
      </p:sp>
      <p:sp>
        <p:nvSpPr>
          <p:cNvPr id="10" name="Shape 8"/>
          <p:cNvSpPr/>
          <p:nvPr/>
        </p:nvSpPr>
        <p:spPr>
          <a:xfrm>
            <a:off x="4617720" y="1417320"/>
            <a:ext cx="4023360" cy="1508760"/>
          </a:xfrm>
          <a:prstGeom prst="rect">
            <a:avLst/>
          </a:prstGeom>
          <a:solidFill>
            <a:srgbClr val="F4F7FA"/>
          </a:solidFill>
          <a:ln w="9525">
            <a:solidFill>
              <a:srgbClr val="E5E9EE"/>
            </a:solidFill>
            <a:prstDash val="solid"/>
          </a:ln>
        </p:spPr>
      </p:sp>
      <p:sp>
        <p:nvSpPr>
          <p:cNvPr id="11" name="Shape 9"/>
          <p:cNvSpPr/>
          <p:nvPr/>
        </p:nvSpPr>
        <p:spPr>
          <a:xfrm>
            <a:off x="4782312" y="1581912"/>
            <a:ext cx="566928" cy="566928"/>
          </a:xfrm>
          <a:prstGeom prst="rect">
            <a:avLst/>
          </a:prstGeom>
          <a:solidFill>
            <a:srgbClr val="0077B6"/>
          </a:solidFill>
          <a:ln w="12700">
            <a:solidFill>
              <a:srgbClr val="0077B6"/>
            </a:solidFill>
            <a:prstDash val="solid"/>
          </a:ln>
        </p:spPr>
      </p:sp>
      <p:sp>
        <p:nvSpPr>
          <p:cNvPr id="12" name="Text 10"/>
          <p:cNvSpPr/>
          <p:nvPr/>
        </p:nvSpPr>
        <p:spPr>
          <a:xfrm>
            <a:off x="4782312" y="1581912"/>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3" name="Text 11"/>
          <p:cNvSpPr/>
          <p:nvPr/>
        </p:nvSpPr>
        <p:spPr>
          <a:xfrm>
            <a:off x="5394960" y="1600200"/>
            <a:ext cx="3108960" cy="36576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P puro lineal</a:t>
            </a:r>
            <a:endParaRPr lang="en-US" sz="1400" dirty="0"/>
          </a:p>
        </p:txBody>
      </p:sp>
      <p:sp>
        <p:nvSpPr>
          <p:cNvPr id="14" name="Text 12"/>
          <p:cNvSpPr/>
          <p:nvPr/>
        </p:nvSpPr>
        <p:spPr>
          <a:xfrm>
            <a:off x="4800600" y="2194560"/>
            <a:ext cx="3657600" cy="685800"/>
          </a:xfrm>
          <a:prstGeom prst="rect">
            <a:avLst/>
          </a:prstGeom>
          <a:noFill/>
          <a:ln/>
        </p:spPr>
        <p:txBody>
          <a:bodyPr wrap="square" lIns="0" tIns="0" rIns="0" bIns="0" rtlCol="0" anchor="t"/>
          <a:lstStyle/>
          <a:p>
            <a:pPr indent="0" marL="0">
              <a:buNone/>
            </a:pPr>
            <a:r>
              <a:rPr lang="en-US" sz="1100" dirty="0">
                <a:solidFill>
                  <a:srgbClr val="1A2332"/>
                </a:solidFill>
                <a:latin typeface="Calibri" pitchFamily="34" charset="0"/>
                <a:ea typeface="Calibri" pitchFamily="34" charset="-122"/>
                <a:cs typeface="Calibri" pitchFamily="34" charset="-120"/>
              </a:rPr>
              <a:t>Con el angular ya estable, se sintonizo kp_lin con un goal recto. Mismo procedimiento: subir hasta oscilar, bajar al 60%.</a:t>
            </a:r>
            <a:endParaRPr lang="en-US" sz="1100" dirty="0"/>
          </a:p>
        </p:txBody>
      </p:sp>
      <p:sp>
        <p:nvSpPr>
          <p:cNvPr id="15" name="Shape 13"/>
          <p:cNvSpPr/>
          <p:nvPr/>
        </p:nvSpPr>
        <p:spPr>
          <a:xfrm>
            <a:off x="502920" y="3017520"/>
            <a:ext cx="4023360" cy="1508760"/>
          </a:xfrm>
          <a:prstGeom prst="rect">
            <a:avLst/>
          </a:prstGeom>
          <a:solidFill>
            <a:srgbClr val="F4F7FA"/>
          </a:solidFill>
          <a:ln w="9525">
            <a:solidFill>
              <a:srgbClr val="E5E9EE"/>
            </a:solidFill>
            <a:prstDash val="solid"/>
          </a:ln>
        </p:spPr>
      </p:sp>
      <p:sp>
        <p:nvSpPr>
          <p:cNvPr id="16" name="Shape 14"/>
          <p:cNvSpPr/>
          <p:nvPr/>
        </p:nvSpPr>
        <p:spPr>
          <a:xfrm>
            <a:off x="667512" y="3182112"/>
            <a:ext cx="566928" cy="566928"/>
          </a:xfrm>
          <a:prstGeom prst="rect">
            <a:avLst/>
          </a:prstGeom>
          <a:solidFill>
            <a:srgbClr val="0077B6"/>
          </a:solidFill>
          <a:ln w="12700">
            <a:solidFill>
              <a:srgbClr val="0077B6"/>
            </a:solidFill>
            <a:prstDash val="solid"/>
          </a:ln>
        </p:spPr>
      </p:sp>
      <p:sp>
        <p:nvSpPr>
          <p:cNvPr id="17" name="Text 15"/>
          <p:cNvSpPr/>
          <p:nvPr/>
        </p:nvSpPr>
        <p:spPr>
          <a:xfrm>
            <a:off x="667512" y="3182112"/>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8" name="Text 16"/>
          <p:cNvSpPr/>
          <p:nvPr/>
        </p:nvSpPr>
        <p:spPr>
          <a:xfrm>
            <a:off x="1280160" y="3200400"/>
            <a:ext cx="3108960" cy="36576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Termino integral</a:t>
            </a:r>
            <a:endParaRPr lang="en-US" sz="1400" dirty="0"/>
          </a:p>
        </p:txBody>
      </p:sp>
      <p:sp>
        <p:nvSpPr>
          <p:cNvPr id="19" name="Text 17"/>
          <p:cNvSpPr/>
          <p:nvPr/>
        </p:nvSpPr>
        <p:spPr>
          <a:xfrm>
            <a:off x="685800" y="3794760"/>
            <a:ext cx="3657600" cy="685800"/>
          </a:xfrm>
          <a:prstGeom prst="rect">
            <a:avLst/>
          </a:prstGeom>
          <a:noFill/>
          <a:ln/>
        </p:spPr>
        <p:txBody>
          <a:bodyPr wrap="square" lIns="0" tIns="0" rIns="0" bIns="0" rtlCol="0" anchor="t"/>
          <a:lstStyle/>
          <a:p>
            <a:pPr indent="0" marL="0">
              <a:buNone/>
            </a:pPr>
            <a:r>
              <a:rPr lang="en-US" sz="1100" dirty="0">
                <a:solidFill>
                  <a:srgbClr val="1A2332"/>
                </a:solidFill>
                <a:latin typeface="Calibri" pitchFamily="34" charset="0"/>
                <a:ea typeface="Calibri" pitchFamily="34" charset="-122"/>
                <a:cs typeface="Calibri" pitchFamily="34" charset="-120"/>
              </a:rPr>
              <a:t>Se anadio Ki = kp/15 para eliminar el error residual estacionario causado por friccion estatica y deadzone del motor.</a:t>
            </a:r>
            <a:endParaRPr lang="en-US" sz="1100" dirty="0"/>
          </a:p>
        </p:txBody>
      </p:sp>
      <p:sp>
        <p:nvSpPr>
          <p:cNvPr id="20" name="Shape 18"/>
          <p:cNvSpPr/>
          <p:nvPr/>
        </p:nvSpPr>
        <p:spPr>
          <a:xfrm>
            <a:off x="4617720" y="3017520"/>
            <a:ext cx="4023360" cy="1508760"/>
          </a:xfrm>
          <a:prstGeom prst="rect">
            <a:avLst/>
          </a:prstGeom>
          <a:solidFill>
            <a:srgbClr val="F4F7FA"/>
          </a:solidFill>
          <a:ln w="9525">
            <a:solidFill>
              <a:srgbClr val="E5E9EE"/>
            </a:solidFill>
            <a:prstDash val="solid"/>
          </a:ln>
        </p:spPr>
      </p:sp>
      <p:sp>
        <p:nvSpPr>
          <p:cNvPr id="21" name="Shape 19"/>
          <p:cNvSpPr/>
          <p:nvPr/>
        </p:nvSpPr>
        <p:spPr>
          <a:xfrm>
            <a:off x="4782312" y="3182112"/>
            <a:ext cx="566928" cy="566928"/>
          </a:xfrm>
          <a:prstGeom prst="rect">
            <a:avLst/>
          </a:prstGeom>
          <a:solidFill>
            <a:srgbClr val="0077B6"/>
          </a:solidFill>
          <a:ln w="12700">
            <a:solidFill>
              <a:srgbClr val="0077B6"/>
            </a:solidFill>
            <a:prstDash val="solid"/>
          </a:ln>
        </p:spPr>
      </p:sp>
      <p:sp>
        <p:nvSpPr>
          <p:cNvPr id="22" name="Text 20"/>
          <p:cNvSpPr/>
          <p:nvPr/>
        </p:nvSpPr>
        <p:spPr>
          <a:xfrm>
            <a:off x="4782312" y="3182112"/>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23" name="Text 21"/>
          <p:cNvSpPr/>
          <p:nvPr/>
        </p:nvSpPr>
        <p:spPr>
          <a:xfrm>
            <a:off x="5394960" y="3200400"/>
            <a:ext cx="3108960" cy="36576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Termino derivativo</a:t>
            </a:r>
            <a:endParaRPr lang="en-US" sz="1400" dirty="0"/>
          </a:p>
        </p:txBody>
      </p:sp>
      <p:sp>
        <p:nvSpPr>
          <p:cNvPr id="24" name="Text 22"/>
          <p:cNvSpPr/>
          <p:nvPr/>
        </p:nvSpPr>
        <p:spPr>
          <a:xfrm>
            <a:off x="4800600" y="3794760"/>
            <a:ext cx="3657600" cy="685800"/>
          </a:xfrm>
          <a:prstGeom prst="rect">
            <a:avLst/>
          </a:prstGeom>
          <a:noFill/>
          <a:ln/>
        </p:spPr>
        <p:txBody>
          <a:bodyPr wrap="square" lIns="0" tIns="0" rIns="0" bIns="0" rtlCol="0" anchor="t"/>
          <a:lstStyle/>
          <a:p>
            <a:pPr indent="0" marL="0">
              <a:buNone/>
            </a:pPr>
            <a:r>
              <a:rPr lang="en-US" sz="1100" dirty="0">
                <a:solidFill>
                  <a:srgbClr val="1A2332"/>
                </a:solidFill>
                <a:latin typeface="Calibri" pitchFamily="34" charset="0"/>
                <a:ea typeface="Calibri" pitchFamily="34" charset="-122"/>
                <a:cs typeface="Calibri" pitchFamily="34" charset="-120"/>
              </a:rPr>
              <a:t>El componente D se evito intencionalmente por ser muy sensible al ruido del encoder. Se prefirio reducir slew rate.</a:t>
            </a:r>
            <a:endParaRPr lang="en-US" sz="1100" dirty="0"/>
          </a:p>
        </p:txBody>
      </p:sp>
      <p:sp>
        <p:nvSpPr>
          <p:cNvPr id="25" name="Text 23"/>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Equipo 1 - REPO    |    Mini Challenge 3 - PuzzleBot</a:t>
            </a:r>
            <a:endParaRPr lang="en-US" sz="900" dirty="0"/>
          </a:p>
        </p:txBody>
      </p:sp>
      <p:sp>
        <p:nvSpPr>
          <p:cNvPr id="26" name="Text 24"/>
          <p:cNvSpPr/>
          <p:nvPr/>
        </p:nvSpPr>
        <p:spPr>
          <a:xfrm>
            <a:off x="8412480" y="4846320"/>
            <a:ext cx="36576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4864" cy="502920"/>
          </a:xfrm>
          <a:prstGeom prst="rect">
            <a:avLst/>
          </a:prstGeom>
          <a:solidFill>
            <a:srgbClr val="00B4D8"/>
          </a:solidFill>
          <a:ln w="12700">
            <a:solidFill>
              <a:srgbClr val="00B4D8"/>
            </a:solidFill>
            <a:prstDash val="solid"/>
          </a:ln>
        </p:spPr>
      </p:sp>
      <p:sp>
        <p:nvSpPr>
          <p:cNvPr id="3" name="Text 1"/>
          <p:cNvSpPr/>
          <p:nvPr/>
        </p:nvSpPr>
        <p:spPr>
          <a:xfrm>
            <a:off x="640080" y="320040"/>
            <a:ext cx="8229600" cy="640080"/>
          </a:xfrm>
          <a:prstGeom prst="rect">
            <a:avLst/>
          </a:prstGeom>
          <a:noFill/>
          <a:ln/>
        </p:spPr>
        <p:txBody>
          <a:bodyPr wrap="square" lIns="0" tIns="0" rIns="0" bIns="0" rtlCol="0" anchor="ctr"/>
          <a:lstStyle/>
          <a:p>
            <a:pPr indent="0" marL="0">
              <a:buNone/>
            </a:pPr>
            <a:r>
              <a:rPr lang="en-US" sz="2600" b="1" dirty="0">
                <a:solidFill>
                  <a:srgbClr val="1A2332"/>
                </a:solidFill>
                <a:latin typeface="Calibri" pitchFamily="34" charset="0"/>
                <a:ea typeface="Calibri" pitchFamily="34" charset="-122"/>
                <a:cs typeface="Calibri" pitchFamily="34" charset="-120"/>
              </a:rPr>
              <a:t>Perturbaciones y criterios de robustez</a:t>
            </a:r>
            <a:endParaRPr lang="en-US" sz="2600" dirty="0"/>
          </a:p>
        </p:txBody>
      </p:sp>
      <p:sp>
        <p:nvSpPr>
          <p:cNvPr id="4" name="Shape 2"/>
          <p:cNvSpPr/>
          <p:nvPr/>
        </p:nvSpPr>
        <p:spPr>
          <a:xfrm>
            <a:off x="502920" y="1097280"/>
            <a:ext cx="4023360" cy="3611880"/>
          </a:xfrm>
          <a:prstGeom prst="rect">
            <a:avLst/>
          </a:prstGeom>
          <a:solidFill>
            <a:srgbClr val="F4F7FA"/>
          </a:solidFill>
          <a:ln w="9525">
            <a:solidFill>
              <a:srgbClr val="E5E9EE"/>
            </a:solidFill>
            <a:prstDash val="solid"/>
          </a:ln>
        </p:spPr>
      </p:sp>
      <p:pic>
        <p:nvPicPr>
          <p:cNvPr id="5" name="Image 0" descr="preencoded.png">    </p:cNvPr>
          <p:cNvPicPr>
            <a:picLocks noChangeAspect="1"/>
          </p:cNvPicPr>
          <p:nvPr/>
        </p:nvPicPr>
        <p:blipFill>
          <a:blip r:embed="rId1"/>
          <a:stretch>
            <a:fillRect/>
          </a:stretch>
        </p:blipFill>
        <p:spPr>
          <a:xfrm>
            <a:off x="640080" y="1207008"/>
            <a:ext cx="310896" cy="310896"/>
          </a:xfrm>
          <a:prstGeom prst="rect">
            <a:avLst/>
          </a:prstGeom>
        </p:spPr>
      </p:pic>
      <p:sp>
        <p:nvSpPr>
          <p:cNvPr id="6" name="Text 3"/>
          <p:cNvSpPr/>
          <p:nvPr/>
        </p:nvSpPr>
        <p:spPr>
          <a:xfrm>
            <a:off x="1051560" y="1188720"/>
            <a:ext cx="3383280" cy="36576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Perturbaciones que se compensan</a:t>
            </a:r>
            <a:endParaRPr lang="en-US" sz="1400" dirty="0"/>
          </a:p>
        </p:txBody>
      </p:sp>
      <p:sp>
        <p:nvSpPr>
          <p:cNvPr id="7" name="Text 4"/>
          <p:cNvSpPr/>
          <p:nvPr/>
        </p:nvSpPr>
        <p:spPr>
          <a:xfrm>
            <a:off x="685800" y="1691640"/>
            <a:ext cx="3703320" cy="2926080"/>
          </a:xfrm>
          <a:prstGeom prst="rect">
            <a:avLst/>
          </a:prstGeom>
          <a:noFill/>
          <a:ln/>
        </p:spPr>
        <p:txBody>
          <a:bodyPr wrap="square" lIns="0" tIns="0" rIns="0" bIns="0" rtlCol="0" anchor="ctr"/>
          <a:lstStyle/>
          <a:p>
            <a:pPr indent="0" marL="0">
              <a:spcAft>
                <a:spcPts val="400"/>
              </a:spcAft>
              <a:buNone/>
            </a:pPr>
            <a:r>
              <a:rPr lang="en-US" sz="1100" b="1" dirty="0">
                <a:solidFill>
                  <a:srgbClr val="1A2332"/>
                </a:solidFill>
                <a:latin typeface="Calibri" pitchFamily="34" charset="0"/>
                <a:ea typeface="Calibri" pitchFamily="34" charset="-122"/>
                <a:cs typeface="Calibri" pitchFamily="34" charset="-120"/>
              </a:rPr>
              <a:t>Deadzone del motor: </a:t>
            </a:r>
            <a:pPr indent="0" marL="0">
              <a:spcAft>
                <a:spcPts val="400"/>
              </a:spcAft>
              <a:buNone/>
            </a:pPr>
            <a:r>
              <a:rPr lang="en-US" sz="1100" dirty="0">
                <a:solidFill>
                  <a:srgbClr val="1A2332"/>
                </a:solidFill>
                <a:latin typeface="Calibri" pitchFamily="34" charset="0"/>
                <a:ea typeface="Calibri" pitchFamily="34" charset="-122"/>
                <a:cs typeface="Calibri" pitchFamily="34" charset="-120"/>
              </a:rPr>
              <a:t>el integral acumula hasta superarla.</a:t>
            </a:r>
            <a:endParaRPr lang="en-US" sz="1100" dirty="0"/>
          </a:p>
          <a:p>
            <a:pPr indent="0" marL="0">
              <a:spcAft>
                <a:spcPts val="400"/>
              </a:spcAft>
              <a:buNone/>
            </a:pPr>
            <a:r>
              <a:rPr lang="en-US" sz="1100" b="1" dirty="0">
                <a:solidFill>
                  <a:srgbClr val="1A2332"/>
                </a:solidFill>
                <a:latin typeface="Calibri" pitchFamily="34" charset="0"/>
                <a:ea typeface="Calibri" pitchFamily="34" charset="-122"/>
                <a:cs typeface="Calibri" pitchFamily="34" charset="-120"/>
              </a:rPr>
              <a:t>Friccion variable y slip: </a:t>
            </a:r>
            <a:pPr indent="0" marL="0">
              <a:spcAft>
                <a:spcPts val="400"/>
              </a:spcAft>
              <a:buNone/>
            </a:pPr>
            <a:r>
              <a:rPr lang="en-US" sz="1100" dirty="0">
                <a:solidFill>
                  <a:srgbClr val="1A2332"/>
                </a:solidFill>
                <a:latin typeface="Calibri" pitchFamily="34" charset="0"/>
                <a:ea typeface="Calibri" pitchFamily="34" charset="-122"/>
                <a:cs typeface="Calibri" pitchFamily="34" charset="-120"/>
              </a:rPr>
              <a:t>el termino I empuja mas comando si el robot se pega.</a:t>
            </a:r>
            <a:endParaRPr lang="en-US" sz="1100" dirty="0"/>
          </a:p>
          <a:p>
            <a:pPr indent="0" marL="0">
              <a:spcAft>
                <a:spcPts val="400"/>
              </a:spcAft>
              <a:buNone/>
            </a:pPr>
            <a:r>
              <a:rPr lang="en-US" sz="1100" b="1" dirty="0">
                <a:solidFill>
                  <a:srgbClr val="1A2332"/>
                </a:solidFill>
                <a:latin typeface="Calibri" pitchFamily="34" charset="0"/>
                <a:ea typeface="Calibri" pitchFamily="34" charset="-122"/>
                <a:cs typeface="Calibri" pitchFamily="34" charset="-120"/>
              </a:rPr>
              <a:t>Ruido del encoder: </a:t>
            </a:r>
            <a:pPr indent="0" marL="0">
              <a:spcAft>
                <a:spcPts val="400"/>
              </a:spcAft>
              <a:buNone/>
            </a:pPr>
            <a:r>
              <a:rPr lang="en-US" sz="1100" dirty="0">
                <a:solidFill>
                  <a:srgbClr val="1A2332"/>
                </a:solidFill>
                <a:latin typeface="Calibri" pitchFamily="34" charset="0"/>
                <a:ea typeface="Calibri" pitchFamily="34" charset="-122"/>
                <a:cs typeface="Calibri" pitchFamily="34" charset="-120"/>
              </a:rPr>
              <a:t>filtro EMA en la derivada y QoS BEST_EFFORT.</a:t>
            </a:r>
            <a:endParaRPr lang="en-US" sz="1100" dirty="0"/>
          </a:p>
          <a:p>
            <a:pPr indent="0" marL="0">
              <a:spcAft>
                <a:spcPts val="400"/>
              </a:spcAft>
              <a:buNone/>
            </a:pPr>
            <a:r>
              <a:rPr lang="en-US" sz="1100" b="1" dirty="0">
                <a:solidFill>
                  <a:srgbClr val="1A2332"/>
                </a:solidFill>
                <a:latin typeface="Calibri" pitchFamily="34" charset="0"/>
                <a:ea typeface="Calibri" pitchFamily="34" charset="-122"/>
                <a:cs typeface="Calibri" pitchFamily="34" charset="-120"/>
              </a:rPr>
              <a:t>Asimetria entre motores: </a:t>
            </a:r>
            <a:pPr indent="0" marL="0">
              <a:spcAft>
                <a:spcPts val="400"/>
              </a:spcAft>
              <a:buNone/>
            </a:pPr>
            <a:r>
              <a:rPr lang="en-US" sz="1100" dirty="0">
                <a:solidFill>
                  <a:srgbClr val="1A2332"/>
                </a:solidFill>
                <a:latin typeface="Calibri" pitchFamily="34" charset="0"/>
                <a:ea typeface="Calibri" pitchFamily="34" charset="-122"/>
                <a:cs typeface="Calibri" pitchFamily="34" charset="-120"/>
              </a:rPr>
              <a:t>el P angular detecta y corrige la desviacion.</a:t>
            </a:r>
            <a:endParaRPr lang="en-US" sz="1100" dirty="0"/>
          </a:p>
          <a:p>
            <a:pPr indent="0" marL="0">
              <a:spcAft>
                <a:spcPts val="400"/>
              </a:spcAft>
              <a:buNone/>
            </a:pPr>
            <a:r>
              <a:rPr lang="en-US" sz="1100" b="1" dirty="0">
                <a:solidFill>
                  <a:srgbClr val="1A2332"/>
                </a:solidFill>
                <a:latin typeface="Calibri" pitchFamily="34" charset="0"/>
                <a:ea typeface="Calibri" pitchFamily="34" charset="-122"/>
                <a:cs typeface="Calibri" pitchFamily="34" charset="-120"/>
              </a:rPr>
              <a:t>Saturacion del actuador: </a:t>
            </a:r>
            <a:pPr indent="0" marL="0">
              <a:spcAft>
                <a:spcPts val="400"/>
              </a:spcAft>
              <a:buNone/>
            </a:pPr>
            <a:r>
              <a:rPr lang="en-US" sz="1100" dirty="0">
                <a:solidFill>
                  <a:srgbClr val="1A2332"/>
                </a:solidFill>
                <a:latin typeface="Calibri" pitchFamily="34" charset="0"/>
                <a:ea typeface="Calibri" pitchFamily="34" charset="-122"/>
                <a:cs typeface="Calibri" pitchFamily="34" charset="-120"/>
              </a:rPr>
              <a:t>se aplica clamping y anti-windup en el integral.</a:t>
            </a:r>
            <a:endParaRPr lang="en-US" sz="1100" dirty="0"/>
          </a:p>
          <a:p>
            <a:pPr indent="0" marL="0">
              <a:spcAft>
                <a:spcPts val="400"/>
              </a:spcAft>
              <a:buNone/>
            </a:pPr>
            <a:r>
              <a:rPr lang="en-US" sz="1100" b="1" dirty="0">
                <a:solidFill>
                  <a:srgbClr val="1A2332"/>
                </a:solidFill>
                <a:latin typeface="Calibri" pitchFamily="34" charset="0"/>
                <a:ea typeface="Calibri" pitchFamily="34" charset="-122"/>
                <a:cs typeface="Calibri" pitchFamily="34" charset="-120"/>
              </a:rPr>
              <a:t>Picos de corriente: </a:t>
            </a:r>
            <a:pPr indent="0" marL="0">
              <a:spcAft>
                <a:spcPts val="400"/>
              </a:spcAft>
              <a:buNone/>
            </a:pPr>
            <a:r>
              <a:rPr lang="en-US" sz="1100" dirty="0">
                <a:solidFill>
                  <a:srgbClr val="1A2332"/>
                </a:solidFill>
                <a:latin typeface="Calibri" pitchFamily="34" charset="0"/>
                <a:ea typeface="Calibri" pitchFamily="34" charset="-122"/>
                <a:cs typeface="Calibri" pitchFamily="34" charset="-120"/>
              </a:rPr>
              <a:t>limitacion de la tasa de cambio (slew rate).</a:t>
            </a:r>
            <a:endParaRPr lang="en-US" sz="1100" dirty="0"/>
          </a:p>
        </p:txBody>
      </p:sp>
      <p:sp>
        <p:nvSpPr>
          <p:cNvPr id="8" name="Shape 5"/>
          <p:cNvSpPr/>
          <p:nvPr/>
        </p:nvSpPr>
        <p:spPr>
          <a:xfrm>
            <a:off x="4617720" y="1097280"/>
            <a:ext cx="4023360" cy="3611880"/>
          </a:xfrm>
          <a:prstGeom prst="rect">
            <a:avLst/>
          </a:prstGeom>
          <a:solidFill>
            <a:srgbClr val="F4F7FA"/>
          </a:solidFill>
          <a:ln w="9525">
            <a:solidFill>
              <a:srgbClr val="E5E9EE"/>
            </a:solidFill>
            <a:prstDash val="solid"/>
          </a:ln>
        </p:spPr>
      </p:sp>
      <p:pic>
        <p:nvPicPr>
          <p:cNvPr id="9" name="Image 1" descr="preencoded.png">    </p:cNvPr>
          <p:cNvPicPr>
            <a:picLocks noChangeAspect="1"/>
          </p:cNvPicPr>
          <p:nvPr/>
        </p:nvPicPr>
        <p:blipFill>
          <a:blip r:embed="rId2"/>
          <a:stretch>
            <a:fillRect/>
          </a:stretch>
        </p:blipFill>
        <p:spPr>
          <a:xfrm>
            <a:off x="4754880" y="1207008"/>
            <a:ext cx="310896" cy="310896"/>
          </a:xfrm>
          <a:prstGeom prst="rect">
            <a:avLst/>
          </a:prstGeom>
        </p:spPr>
      </p:pic>
      <p:sp>
        <p:nvSpPr>
          <p:cNvPr id="10" name="Text 6"/>
          <p:cNvSpPr/>
          <p:nvPr/>
        </p:nvSpPr>
        <p:spPr>
          <a:xfrm>
            <a:off x="5166360" y="1188720"/>
            <a:ext cx="3383280" cy="36576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Criterios de robustez</a:t>
            </a:r>
            <a:endParaRPr lang="en-US" sz="1400" dirty="0"/>
          </a:p>
        </p:txBody>
      </p:sp>
      <p:sp>
        <p:nvSpPr>
          <p:cNvPr id="11" name="Text 7"/>
          <p:cNvSpPr/>
          <p:nvPr/>
        </p:nvSpPr>
        <p:spPr>
          <a:xfrm>
            <a:off x="4800600" y="1691640"/>
            <a:ext cx="3749040" cy="2926080"/>
          </a:xfrm>
          <a:prstGeom prst="rect">
            <a:avLst/>
          </a:prstGeom>
          <a:noFill/>
          <a:ln/>
        </p:spPr>
        <p:txBody>
          <a:bodyPr wrap="square" lIns="0" tIns="0" rIns="0" bIns="0" rtlCol="0" anchor="ctr"/>
          <a:lstStyle/>
          <a:p>
            <a:pPr indent="0" marL="0">
              <a:spcAft>
                <a:spcPts val="400"/>
              </a:spcAft>
              <a:buNone/>
            </a:pPr>
            <a:r>
              <a:rPr lang="en-US" sz="1100" b="1" dirty="0">
                <a:solidFill>
                  <a:srgbClr val="1A2332"/>
                </a:solidFill>
                <a:latin typeface="Calibri" pitchFamily="34" charset="0"/>
                <a:ea typeface="Calibri" pitchFamily="34" charset="-122"/>
                <a:cs typeface="Calibri" pitchFamily="34" charset="-120"/>
              </a:rPr>
              <a:t>Anti-windup: </a:t>
            </a:r>
            <a:pPr indent="0" marL="0">
              <a:spcAft>
                <a:spcPts val="400"/>
              </a:spcAft>
              <a:buNone/>
            </a:pPr>
            <a:r>
              <a:rPr lang="en-US" sz="1100" dirty="0">
                <a:solidFill>
                  <a:srgbClr val="1A2332"/>
                </a:solidFill>
                <a:latin typeface="Calibri" pitchFamily="34" charset="0"/>
                <a:ea typeface="Calibri" pitchFamily="34" charset="-122"/>
                <a:cs typeface="Calibri" pitchFamily="34" charset="-120"/>
              </a:rPr>
              <a:t>clamping del integral a +/- integral_max.</a:t>
            </a:r>
            <a:endParaRPr lang="en-US" sz="1100" dirty="0"/>
          </a:p>
          <a:p>
            <a:pPr indent="0" marL="0">
              <a:spcAft>
                <a:spcPts val="400"/>
              </a:spcAft>
              <a:buNone/>
            </a:pPr>
            <a:r>
              <a:rPr lang="en-US" sz="1100" b="1" dirty="0">
                <a:solidFill>
                  <a:srgbClr val="1A2332"/>
                </a:solidFill>
                <a:latin typeface="Calibri" pitchFamily="34" charset="0"/>
                <a:ea typeface="Calibri" pitchFamily="34" charset="-122"/>
                <a:cs typeface="Calibri" pitchFamily="34" charset="-120"/>
              </a:rPr>
              <a:t>Derivada filtrada (EMA): </a:t>
            </a:r>
            <a:pPr indent="0" marL="0">
              <a:spcAft>
                <a:spcPts val="400"/>
              </a:spcAft>
              <a:buNone/>
            </a:pPr>
            <a:r>
              <a:rPr lang="en-US" sz="1100" dirty="0">
                <a:solidFill>
                  <a:srgbClr val="1A2332"/>
                </a:solidFill>
                <a:latin typeface="Calibri" pitchFamily="34" charset="0"/>
                <a:ea typeface="Calibri" pitchFamily="34" charset="-122"/>
                <a:cs typeface="Calibri" pitchFamily="34" charset="-120"/>
              </a:rPr>
              <a:t>atenua picos de ruido sin perder tendencia.</a:t>
            </a:r>
            <a:endParaRPr lang="en-US" sz="1100" dirty="0"/>
          </a:p>
          <a:p>
            <a:pPr indent="0" marL="0">
              <a:spcAft>
                <a:spcPts val="400"/>
              </a:spcAft>
              <a:buNone/>
            </a:pPr>
            <a:r>
              <a:rPr lang="en-US" sz="1100" b="1" dirty="0">
                <a:solidFill>
                  <a:srgbClr val="1A2332"/>
                </a:solidFill>
                <a:latin typeface="Calibri" pitchFamily="34" charset="0"/>
                <a:ea typeface="Calibri" pitchFamily="34" charset="-122"/>
                <a:cs typeface="Calibri" pitchFamily="34" charset="-120"/>
              </a:rPr>
              <a:t>Saturacion consciente: </a:t>
            </a:r>
            <a:pPr indent="0" marL="0">
              <a:spcAft>
                <a:spcPts val="400"/>
              </a:spcAft>
              <a:buNone/>
            </a:pPr>
            <a:r>
              <a:rPr lang="en-US" sz="1100" dirty="0">
                <a:solidFill>
                  <a:srgbClr val="1A2332"/>
                </a:solidFill>
                <a:latin typeface="Calibri" pitchFamily="34" charset="0"/>
                <a:ea typeface="Calibri" pitchFamily="34" charset="-122"/>
                <a:cs typeface="Calibri" pitchFamily="34" charset="-120"/>
              </a:rPr>
              <a:t>v_max y omega_max acotan la salida del PID.</a:t>
            </a:r>
            <a:endParaRPr lang="en-US" sz="1100" dirty="0"/>
          </a:p>
          <a:p>
            <a:pPr indent="0" marL="0">
              <a:spcAft>
                <a:spcPts val="400"/>
              </a:spcAft>
              <a:buNone/>
            </a:pPr>
            <a:r>
              <a:rPr lang="en-US" sz="1100" b="1" dirty="0">
                <a:solidFill>
                  <a:srgbClr val="1A2332"/>
                </a:solidFill>
                <a:latin typeface="Calibri" pitchFamily="34" charset="0"/>
                <a:ea typeface="Calibri" pitchFamily="34" charset="-122"/>
                <a:cs typeface="Calibri" pitchFamily="34" charset="-120"/>
              </a:rPr>
              <a:t>Slew rate limiting: </a:t>
            </a:r>
            <a:pPr indent="0" marL="0">
              <a:spcAft>
                <a:spcPts val="400"/>
              </a:spcAft>
              <a:buNone/>
            </a:pPr>
            <a:r>
              <a:rPr lang="en-US" sz="1100" dirty="0">
                <a:solidFill>
                  <a:srgbClr val="1A2332"/>
                </a:solidFill>
                <a:latin typeface="Calibri" pitchFamily="34" charset="0"/>
                <a:ea typeface="Calibri" pitchFamily="34" charset="-122"/>
                <a:cs typeface="Calibri" pitchFamily="34" charset="-120"/>
              </a:rPr>
              <a:t>limita |dv/dt| y |dw/dt| (anti picos de corriente).</a:t>
            </a:r>
            <a:endParaRPr lang="en-US" sz="1100" dirty="0"/>
          </a:p>
          <a:p>
            <a:pPr indent="0" marL="0">
              <a:spcAft>
                <a:spcPts val="400"/>
              </a:spcAft>
              <a:buNone/>
            </a:pPr>
            <a:r>
              <a:rPr lang="en-US" sz="1100" b="1" dirty="0">
                <a:solidFill>
                  <a:srgbClr val="1A2332"/>
                </a:solidFill>
                <a:latin typeface="Calibri" pitchFamily="34" charset="0"/>
                <a:ea typeface="Calibri" pitchFamily="34" charset="-122"/>
                <a:cs typeface="Calibri" pitchFamily="34" charset="-120"/>
              </a:rPr>
              <a:t>Approach zone: </a:t>
            </a:r>
            <a:pPr indent="0" marL="0">
              <a:spcAft>
                <a:spcPts val="400"/>
              </a:spcAft>
              <a:buNone/>
            </a:pPr>
            <a:r>
              <a:rPr lang="en-US" sz="1100" dirty="0">
                <a:solidFill>
                  <a:srgbClr val="1A2332"/>
                </a:solidFill>
                <a:latin typeface="Calibri" pitchFamily="34" charset="0"/>
                <a:ea typeface="Calibri" pitchFamily="34" charset="-122"/>
                <a:cs typeface="Calibri" pitchFamily="34" charset="-120"/>
              </a:rPr>
              <a:t>v se reduce al acercarse al goal (anti overshoot).</a:t>
            </a:r>
            <a:endParaRPr lang="en-US" sz="1100" dirty="0"/>
          </a:p>
          <a:p>
            <a:pPr indent="0" marL="0">
              <a:spcAft>
                <a:spcPts val="400"/>
              </a:spcAft>
              <a:buNone/>
            </a:pPr>
            <a:r>
              <a:rPr lang="en-US" sz="1100" b="1" dirty="0">
                <a:solidFill>
                  <a:srgbClr val="1A2332"/>
                </a:solidFill>
                <a:latin typeface="Calibri" pitchFamily="34" charset="0"/>
                <a:ea typeface="Calibri" pitchFamily="34" charset="-122"/>
                <a:cs typeface="Calibri" pitchFamily="34" charset="-120"/>
              </a:rPr>
              <a:t>Pre-validacion: </a:t>
            </a:r>
            <a:pPr indent="0" marL="0">
              <a:spcAft>
                <a:spcPts val="400"/>
              </a:spcAft>
              <a:buNone/>
            </a:pPr>
            <a:r>
              <a:rPr lang="en-US" sz="1100" dirty="0">
                <a:solidFill>
                  <a:srgbClr val="1A2332"/>
                </a:solidFill>
                <a:latin typeface="Calibri" pitchFamily="34" charset="0"/>
                <a:ea typeface="Calibri" pitchFamily="34" charset="-122"/>
                <a:cs typeface="Calibri" pitchFamily="34" charset="-120"/>
              </a:rPr>
              <a:t>el path generator rechaza waypoints inalcanzables.</a:t>
            </a:r>
            <a:endParaRPr lang="en-US" sz="1100" dirty="0"/>
          </a:p>
          <a:p>
            <a:pPr indent="0" marL="0">
              <a:spcAft>
                <a:spcPts val="400"/>
              </a:spcAft>
              <a:buNone/>
            </a:pPr>
            <a:r>
              <a:rPr lang="en-US" sz="1100" b="1" dirty="0">
                <a:solidFill>
                  <a:srgbClr val="1A2332"/>
                </a:solidFill>
                <a:latin typeface="Calibri" pitchFamily="34" charset="0"/>
                <a:ea typeface="Calibri" pitchFamily="34" charset="-122"/>
                <a:cs typeface="Calibri" pitchFamily="34" charset="-120"/>
              </a:rPr>
              <a:t>Parada de emergencia: </a:t>
            </a:r>
            <a:pPr indent="0" marL="0">
              <a:spcAft>
                <a:spcPts val="400"/>
              </a:spcAft>
              <a:buNone/>
            </a:pPr>
            <a:r>
              <a:rPr lang="en-US" sz="1100" dirty="0">
                <a:solidFill>
                  <a:srgbClr val="1A2332"/>
                </a:solidFill>
                <a:latin typeface="Calibri" pitchFamily="34" charset="0"/>
                <a:ea typeface="Calibri" pitchFamily="34" charset="-122"/>
                <a:cs typeface="Calibri" pitchFamily="34" charset="-120"/>
              </a:rPr>
              <a:t>10 Twist en cero al cerrar el nodo.</a:t>
            </a:r>
            <a:endParaRPr lang="en-US" sz="1100" dirty="0"/>
          </a:p>
        </p:txBody>
      </p:sp>
      <p:sp>
        <p:nvSpPr>
          <p:cNvPr id="12" name="Text 8"/>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Equipo 1 - REPO    |    Mini Challenge 3 - PuzzleBot</a:t>
            </a:r>
            <a:endParaRPr lang="en-US" sz="900" dirty="0"/>
          </a:p>
        </p:txBody>
      </p:sp>
      <p:sp>
        <p:nvSpPr>
          <p:cNvPr id="13" name="Text 9"/>
          <p:cNvSpPr/>
          <p:nvPr/>
        </p:nvSpPr>
        <p:spPr>
          <a:xfrm>
            <a:off x="8412480" y="4846320"/>
            <a:ext cx="36576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4864" cy="502920"/>
          </a:xfrm>
          <a:prstGeom prst="rect">
            <a:avLst/>
          </a:prstGeom>
          <a:solidFill>
            <a:srgbClr val="00B4D8"/>
          </a:solidFill>
          <a:ln w="12700">
            <a:solidFill>
              <a:srgbClr val="00B4D8"/>
            </a:solidFill>
            <a:prstDash val="solid"/>
          </a:ln>
        </p:spPr>
      </p:sp>
      <p:sp>
        <p:nvSpPr>
          <p:cNvPr id="3" name="Text 1"/>
          <p:cNvSpPr/>
          <p:nvPr/>
        </p:nvSpPr>
        <p:spPr>
          <a:xfrm>
            <a:off x="640080" y="320040"/>
            <a:ext cx="8229600" cy="640080"/>
          </a:xfrm>
          <a:prstGeom prst="rect">
            <a:avLst/>
          </a:prstGeom>
          <a:noFill/>
          <a:ln/>
        </p:spPr>
        <p:txBody>
          <a:bodyPr wrap="square" lIns="0" tIns="0" rIns="0" bIns="0" rtlCol="0" anchor="ctr"/>
          <a:lstStyle/>
          <a:p>
            <a:pPr indent="0" marL="0">
              <a:buNone/>
            </a:pPr>
            <a:r>
              <a:rPr lang="en-US" sz="2600" b="1" dirty="0">
                <a:solidFill>
                  <a:srgbClr val="1A2332"/>
                </a:solidFill>
                <a:latin typeface="Calibri" pitchFamily="34" charset="0"/>
                <a:ea typeface="Calibri" pitchFamily="34" charset="-122"/>
                <a:cs typeface="Calibri" pitchFamily="34" charset="-120"/>
              </a:rPr>
              <a:t>Problema 1: encoders sin datos (QoS mismatch)</a:t>
            </a:r>
            <a:endParaRPr lang="en-US" sz="2600" dirty="0"/>
          </a:p>
        </p:txBody>
      </p:sp>
      <p:pic>
        <p:nvPicPr>
          <p:cNvPr id="4" name="Image 0" descr="preencoded.png">    </p:cNvPr>
          <p:cNvPicPr>
            <a:picLocks noChangeAspect="1"/>
          </p:cNvPicPr>
          <p:nvPr/>
        </p:nvPicPr>
        <p:blipFill>
          <a:blip r:embed="rId1"/>
          <a:stretch>
            <a:fillRect/>
          </a:stretch>
        </p:blipFill>
        <p:spPr>
          <a:xfrm>
            <a:off x="502920" y="1078992"/>
            <a:ext cx="292608" cy="292608"/>
          </a:xfrm>
          <a:prstGeom prst="rect">
            <a:avLst/>
          </a:prstGeom>
        </p:spPr>
      </p:pic>
      <p:sp>
        <p:nvSpPr>
          <p:cNvPr id="5" name="Text 2"/>
          <p:cNvSpPr/>
          <p:nvPr/>
        </p:nvSpPr>
        <p:spPr>
          <a:xfrm>
            <a:off x="868680" y="1051560"/>
            <a:ext cx="5486400" cy="36576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Sintoma observado</a:t>
            </a:r>
            <a:endParaRPr lang="en-US" sz="1400" dirty="0"/>
          </a:p>
        </p:txBody>
      </p:sp>
      <p:sp>
        <p:nvSpPr>
          <p:cNvPr id="6" name="Text 3"/>
          <p:cNvSpPr/>
          <p:nvPr/>
        </p:nvSpPr>
        <p:spPr>
          <a:xfrm>
            <a:off x="502920" y="1417320"/>
            <a:ext cx="8229600" cy="50292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El robot avanzaba pero la odometria nunca se actualizaba; la pose quedaba clavada en (0, 0, 0). Solo recorria el primer tramo y se quedaba intentando seguir avanzando.</a:t>
            </a:r>
            <a:endParaRPr lang="en-US" sz="1100" dirty="0"/>
          </a:p>
        </p:txBody>
      </p:sp>
      <p:sp>
        <p:nvSpPr>
          <p:cNvPr id="7" name="Shape 4"/>
          <p:cNvSpPr/>
          <p:nvPr/>
        </p:nvSpPr>
        <p:spPr>
          <a:xfrm>
            <a:off x="502920" y="1965960"/>
            <a:ext cx="8229600" cy="777240"/>
          </a:xfrm>
          <a:prstGeom prst="rect">
            <a:avLst/>
          </a:prstGeom>
          <a:solidFill>
            <a:srgbClr val="0F2438"/>
          </a:solidFill>
          <a:ln w="12700">
            <a:solidFill>
              <a:srgbClr val="0F2438"/>
            </a:solidFill>
            <a:prstDash val="solid"/>
          </a:ln>
        </p:spPr>
      </p:sp>
      <p:sp>
        <p:nvSpPr>
          <p:cNvPr id="8" name="Text 5"/>
          <p:cNvSpPr/>
          <p:nvPr/>
        </p:nvSpPr>
        <p:spPr>
          <a:xfrm>
            <a:off x="640080" y="2057400"/>
            <a:ext cx="7955280" cy="594360"/>
          </a:xfrm>
          <a:prstGeom prst="rect">
            <a:avLst/>
          </a:prstGeom>
          <a:noFill/>
          <a:ln/>
        </p:spPr>
        <p:txBody>
          <a:bodyPr wrap="square" lIns="0" tIns="0" rIns="0" bIns="0" rtlCol="0" anchor="t"/>
          <a:lstStyle/>
          <a:p>
            <a:pPr indent="0" marL="0">
              <a:buNone/>
            </a:pPr>
            <a:r>
              <a:rPr lang="en-US" sz="1000" dirty="0">
                <a:solidFill>
                  <a:srgbClr val="E2E8F0"/>
                </a:solidFill>
                <a:latin typeface="Consolas" pitchFamily="34" charset="0"/>
                <a:ea typeface="Consolas" pitchFamily="34" charset="-122"/>
                <a:cs typeface="Consolas" pitchFamily="34" charset="-120"/>
              </a:rPr>
              <a:t>[odometry_node] [WARN] New publisher discovered on topic '/VelocityEncL',</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offering incompatible QoS. No messages will be received.</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Last incompatible policy: RELIABILITY</a:t>
            </a:r>
            <a:endParaRPr lang="en-US" sz="1000" dirty="0"/>
          </a:p>
        </p:txBody>
      </p:sp>
      <p:pic>
        <p:nvPicPr>
          <p:cNvPr id="9" name="Image 1" descr="preencoded.png">    </p:cNvPr>
          <p:cNvPicPr>
            <a:picLocks noChangeAspect="1"/>
          </p:cNvPicPr>
          <p:nvPr/>
        </p:nvPicPr>
        <p:blipFill>
          <a:blip r:embed="rId2"/>
          <a:stretch>
            <a:fillRect/>
          </a:stretch>
        </p:blipFill>
        <p:spPr>
          <a:xfrm>
            <a:off x="502920" y="2926080"/>
            <a:ext cx="292608" cy="292608"/>
          </a:xfrm>
          <a:prstGeom prst="rect">
            <a:avLst/>
          </a:prstGeom>
        </p:spPr>
      </p:pic>
      <p:sp>
        <p:nvSpPr>
          <p:cNvPr id="10" name="Text 6"/>
          <p:cNvSpPr/>
          <p:nvPr/>
        </p:nvSpPr>
        <p:spPr>
          <a:xfrm>
            <a:off x="868680" y="2898648"/>
            <a:ext cx="5486400" cy="36576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Solucion aplicada</a:t>
            </a:r>
            <a:endParaRPr lang="en-US" sz="1400" dirty="0"/>
          </a:p>
        </p:txBody>
      </p:sp>
      <p:sp>
        <p:nvSpPr>
          <p:cNvPr id="11" name="Text 7"/>
          <p:cNvSpPr/>
          <p:nvPr/>
        </p:nvSpPr>
        <p:spPr>
          <a:xfrm>
            <a:off x="502920" y="3246120"/>
            <a:ext cx="8229600" cy="50292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El firmware micro-ROS publica los encoders con QoS BEST_EFFORT, pero rclpy se suscribe por default como RELIABLE. Se cambio la subscripcion a qos_profile_sensor_data.</a:t>
            </a:r>
            <a:endParaRPr lang="en-US" sz="1100" dirty="0"/>
          </a:p>
        </p:txBody>
      </p:sp>
      <p:sp>
        <p:nvSpPr>
          <p:cNvPr id="12" name="Shape 8"/>
          <p:cNvSpPr/>
          <p:nvPr/>
        </p:nvSpPr>
        <p:spPr>
          <a:xfrm>
            <a:off x="502920" y="3794760"/>
            <a:ext cx="8229600" cy="777240"/>
          </a:xfrm>
          <a:prstGeom prst="rect">
            <a:avLst/>
          </a:prstGeom>
          <a:solidFill>
            <a:srgbClr val="0F2438"/>
          </a:solidFill>
          <a:ln w="12700">
            <a:solidFill>
              <a:srgbClr val="0F2438"/>
            </a:solidFill>
            <a:prstDash val="solid"/>
          </a:ln>
        </p:spPr>
      </p:sp>
      <p:sp>
        <p:nvSpPr>
          <p:cNvPr id="13" name="Text 9"/>
          <p:cNvSpPr/>
          <p:nvPr/>
        </p:nvSpPr>
        <p:spPr>
          <a:xfrm>
            <a:off x="640080" y="3886200"/>
            <a:ext cx="7955280" cy="594360"/>
          </a:xfrm>
          <a:prstGeom prst="rect">
            <a:avLst/>
          </a:prstGeom>
          <a:noFill/>
          <a:ln/>
        </p:spPr>
        <p:txBody>
          <a:bodyPr wrap="square" lIns="0" tIns="0" rIns="0" bIns="0"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from rclpy.qos import qos_profile_sensor_data</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self.create_subscription(Float32, '/VelocityEncL', self._cb_wl,</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qos_profile_sensor_data)   # BEST_EFFORT</a:t>
            </a:r>
            <a:endParaRPr lang="en-US" sz="1100" dirty="0"/>
          </a:p>
        </p:txBody>
      </p:sp>
      <p:sp>
        <p:nvSpPr>
          <p:cNvPr id="14" name="Text 10"/>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Equipo 1 - REPO    |    Mini Challenge 3 - PuzzleBot</a:t>
            </a:r>
            <a:endParaRPr lang="en-US" sz="900" dirty="0"/>
          </a:p>
        </p:txBody>
      </p:sp>
      <p:sp>
        <p:nvSpPr>
          <p:cNvPr id="15" name="Text 11"/>
          <p:cNvSpPr/>
          <p:nvPr/>
        </p:nvSpPr>
        <p:spPr>
          <a:xfrm>
            <a:off x="8412480" y="4846320"/>
            <a:ext cx="36576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4864" cy="502920"/>
          </a:xfrm>
          <a:prstGeom prst="rect">
            <a:avLst/>
          </a:prstGeom>
          <a:solidFill>
            <a:srgbClr val="00B4D8"/>
          </a:solidFill>
          <a:ln w="12700">
            <a:solidFill>
              <a:srgbClr val="00B4D8"/>
            </a:solidFill>
            <a:prstDash val="solid"/>
          </a:ln>
        </p:spPr>
      </p:sp>
      <p:sp>
        <p:nvSpPr>
          <p:cNvPr id="3" name="Text 1"/>
          <p:cNvSpPr/>
          <p:nvPr/>
        </p:nvSpPr>
        <p:spPr>
          <a:xfrm>
            <a:off x="640080" y="320040"/>
            <a:ext cx="8229600" cy="640080"/>
          </a:xfrm>
          <a:prstGeom prst="rect">
            <a:avLst/>
          </a:prstGeom>
          <a:noFill/>
          <a:ln/>
        </p:spPr>
        <p:txBody>
          <a:bodyPr wrap="square" lIns="0" tIns="0" rIns="0" bIns="0" rtlCol="0" anchor="ctr"/>
          <a:lstStyle/>
          <a:p>
            <a:pPr indent="0" marL="0">
              <a:buNone/>
            </a:pPr>
            <a:r>
              <a:rPr lang="en-US" sz="2600" b="1" dirty="0">
                <a:solidFill>
                  <a:srgbClr val="1A2332"/>
                </a:solidFill>
                <a:latin typeface="Calibri" pitchFamily="34" charset="0"/>
                <a:ea typeface="Calibri" pitchFamily="34" charset="-122"/>
                <a:cs typeface="Calibri" pitchFamily="34" charset="-120"/>
              </a:rPr>
              <a:t>Problemas 2 y 3: resets y overshoot</a:t>
            </a:r>
            <a:endParaRPr lang="en-US" sz="2600" dirty="0"/>
          </a:p>
        </p:txBody>
      </p:sp>
      <p:sp>
        <p:nvSpPr>
          <p:cNvPr id="4" name="Shape 2"/>
          <p:cNvSpPr/>
          <p:nvPr/>
        </p:nvSpPr>
        <p:spPr>
          <a:xfrm>
            <a:off x="502920" y="1005840"/>
            <a:ext cx="4023360" cy="1783080"/>
          </a:xfrm>
          <a:prstGeom prst="rect">
            <a:avLst/>
          </a:prstGeom>
          <a:solidFill>
            <a:srgbClr val="FDF1EC"/>
          </a:solidFill>
          <a:ln w="12700">
            <a:solidFill>
              <a:srgbClr val="F4A261"/>
            </a:solidFill>
            <a:prstDash val="solid"/>
          </a:ln>
        </p:spPr>
      </p:sp>
      <p:pic>
        <p:nvPicPr>
          <p:cNvPr id="5" name="Image 0" descr="preencoded.png">    </p:cNvPr>
          <p:cNvPicPr>
            <a:picLocks noChangeAspect="1"/>
          </p:cNvPicPr>
          <p:nvPr/>
        </p:nvPicPr>
        <p:blipFill>
          <a:blip r:embed="rId1"/>
          <a:stretch>
            <a:fillRect/>
          </a:stretch>
        </p:blipFill>
        <p:spPr>
          <a:xfrm>
            <a:off x="640080" y="1115568"/>
            <a:ext cx="292608" cy="292608"/>
          </a:xfrm>
          <a:prstGeom prst="rect">
            <a:avLst/>
          </a:prstGeom>
        </p:spPr>
      </p:pic>
      <p:sp>
        <p:nvSpPr>
          <p:cNvPr id="6" name="Text 3"/>
          <p:cNvSpPr/>
          <p:nvPr/>
        </p:nvSpPr>
        <p:spPr>
          <a:xfrm>
            <a:off x="1005840" y="1097280"/>
            <a:ext cx="3383280" cy="292608"/>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Resets de la Hackerboard</a:t>
            </a:r>
            <a:endParaRPr lang="en-US" sz="1300" dirty="0"/>
          </a:p>
        </p:txBody>
      </p:sp>
      <p:sp>
        <p:nvSpPr>
          <p:cNvPr id="7" name="Text 4"/>
          <p:cNvSpPr/>
          <p:nvPr/>
        </p:nvSpPr>
        <p:spPr>
          <a:xfrm>
            <a:off x="685800" y="1481328"/>
            <a:ext cx="3703320" cy="777240"/>
          </a:xfrm>
          <a:prstGeom prst="rect">
            <a:avLst/>
          </a:prstGeom>
          <a:noFill/>
          <a:ln/>
        </p:spPr>
        <p:txBody>
          <a:bodyPr wrap="square" lIns="0" tIns="0" rIns="0" bIns="0" rtlCol="0" anchor="ctr"/>
          <a:lstStyle/>
          <a:p>
            <a:pPr indent="0" marL="0">
              <a:buNone/>
            </a:pPr>
            <a:r>
              <a:rPr lang="en-US" sz="1050" dirty="0">
                <a:solidFill>
                  <a:srgbClr val="1A2332"/>
                </a:solidFill>
                <a:latin typeface="Calibri" pitchFamily="34" charset="0"/>
                <a:ea typeface="Calibri" pitchFamily="34" charset="-122"/>
                <a:cs typeface="Calibri" pitchFamily="34" charset="-120"/>
              </a:rPr>
              <a:t>Cambios bruscos en el comando generaban picos de corriente que excedian la capacidad del regulador, reseteando la electronica.</a:t>
            </a:r>
            <a:endParaRPr lang="en-US" sz="1050" dirty="0"/>
          </a:p>
        </p:txBody>
      </p:sp>
      <p:sp>
        <p:nvSpPr>
          <p:cNvPr id="8" name="Text 5"/>
          <p:cNvSpPr/>
          <p:nvPr/>
        </p:nvSpPr>
        <p:spPr>
          <a:xfrm>
            <a:off x="685800" y="2331720"/>
            <a:ext cx="3703320" cy="320040"/>
          </a:xfrm>
          <a:prstGeom prst="rect">
            <a:avLst/>
          </a:prstGeom>
          <a:noFill/>
          <a:ln/>
        </p:spPr>
        <p:txBody>
          <a:bodyPr wrap="square" lIns="0" tIns="0" rIns="0" bIns="0" rtlCol="0" anchor="ctr"/>
          <a:lstStyle/>
          <a:p>
            <a:pPr indent="0" marL="0">
              <a:buNone/>
            </a:pPr>
            <a:r>
              <a:rPr lang="en-US" sz="1100" b="1" dirty="0">
                <a:solidFill>
                  <a:srgbClr val="06A77D"/>
                </a:solidFill>
                <a:latin typeface="Calibri" pitchFamily="34" charset="0"/>
                <a:ea typeface="Calibri" pitchFamily="34" charset="-122"/>
                <a:cs typeface="Calibri" pitchFamily="34" charset="-120"/>
              </a:rPr>
              <a:t>Solucion: SLEW RATE LIMITING</a:t>
            </a:r>
            <a:endParaRPr lang="en-US" sz="1100" dirty="0"/>
          </a:p>
        </p:txBody>
      </p:sp>
      <p:sp>
        <p:nvSpPr>
          <p:cNvPr id="9" name="Shape 6"/>
          <p:cNvSpPr/>
          <p:nvPr/>
        </p:nvSpPr>
        <p:spPr>
          <a:xfrm>
            <a:off x="4617720" y="1005840"/>
            <a:ext cx="4023360" cy="1783080"/>
          </a:xfrm>
          <a:prstGeom prst="rect">
            <a:avLst/>
          </a:prstGeom>
          <a:solidFill>
            <a:srgbClr val="FDF1EC"/>
          </a:solidFill>
          <a:ln w="12700">
            <a:solidFill>
              <a:srgbClr val="F4A261"/>
            </a:solidFill>
            <a:prstDash val="solid"/>
          </a:ln>
        </p:spPr>
      </p:sp>
      <p:pic>
        <p:nvPicPr>
          <p:cNvPr id="10" name="Image 1" descr="preencoded.png">    </p:cNvPr>
          <p:cNvPicPr>
            <a:picLocks noChangeAspect="1"/>
          </p:cNvPicPr>
          <p:nvPr/>
        </p:nvPicPr>
        <p:blipFill>
          <a:blip r:embed="rId2"/>
          <a:stretch>
            <a:fillRect/>
          </a:stretch>
        </p:blipFill>
        <p:spPr>
          <a:xfrm>
            <a:off x="4754880" y="1115568"/>
            <a:ext cx="292608" cy="292608"/>
          </a:xfrm>
          <a:prstGeom prst="rect">
            <a:avLst/>
          </a:prstGeom>
        </p:spPr>
      </p:pic>
      <p:sp>
        <p:nvSpPr>
          <p:cNvPr id="11" name="Text 7"/>
          <p:cNvSpPr/>
          <p:nvPr/>
        </p:nvSpPr>
        <p:spPr>
          <a:xfrm>
            <a:off x="5120640" y="1097280"/>
            <a:ext cx="3383280" cy="292608"/>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Overshoot de ~28 cm</a:t>
            </a:r>
            <a:endParaRPr lang="en-US" sz="1300" dirty="0"/>
          </a:p>
        </p:txBody>
      </p:sp>
      <p:sp>
        <p:nvSpPr>
          <p:cNvPr id="12" name="Text 8"/>
          <p:cNvSpPr/>
          <p:nvPr/>
        </p:nvSpPr>
        <p:spPr>
          <a:xfrm>
            <a:off x="4800600" y="1481328"/>
            <a:ext cx="3703320" cy="777240"/>
          </a:xfrm>
          <a:prstGeom prst="rect">
            <a:avLst/>
          </a:prstGeom>
          <a:noFill/>
          <a:ln/>
        </p:spPr>
        <p:txBody>
          <a:bodyPr wrap="square" lIns="0" tIns="0" rIns="0" bIns="0" rtlCol="0" anchor="ctr"/>
          <a:lstStyle/>
          <a:p>
            <a:pPr indent="0" marL="0">
              <a:buNone/>
            </a:pPr>
            <a:r>
              <a:rPr lang="en-US" sz="1050" dirty="0">
                <a:solidFill>
                  <a:srgbClr val="1A2332"/>
                </a:solidFill>
                <a:latin typeface="Calibri" pitchFamily="34" charset="0"/>
                <a:ea typeface="Calibri" pitchFamily="34" charset="-122"/>
                <a:cs typeface="Calibri" pitchFamily="34" charset="-120"/>
              </a:rPr>
              <a:t>Por la latencia del lazo y por subestimacion del encoder, el robot se pasaba del waypoint antes de detectar que llegaba.</a:t>
            </a:r>
            <a:endParaRPr lang="en-US" sz="1050" dirty="0"/>
          </a:p>
        </p:txBody>
      </p:sp>
      <p:sp>
        <p:nvSpPr>
          <p:cNvPr id="13" name="Text 9"/>
          <p:cNvSpPr/>
          <p:nvPr/>
        </p:nvSpPr>
        <p:spPr>
          <a:xfrm>
            <a:off x="4800600" y="2331720"/>
            <a:ext cx="3703320" cy="320040"/>
          </a:xfrm>
          <a:prstGeom prst="rect">
            <a:avLst/>
          </a:prstGeom>
          <a:noFill/>
          <a:ln/>
        </p:spPr>
        <p:txBody>
          <a:bodyPr wrap="square" lIns="0" tIns="0" rIns="0" bIns="0" rtlCol="0" anchor="ctr"/>
          <a:lstStyle/>
          <a:p>
            <a:pPr indent="0" marL="0">
              <a:buNone/>
            </a:pPr>
            <a:r>
              <a:rPr lang="en-US" sz="1100" b="1" dirty="0">
                <a:solidFill>
                  <a:srgbClr val="06A77D"/>
                </a:solidFill>
                <a:latin typeface="Calibri" pitchFamily="34" charset="0"/>
                <a:ea typeface="Calibri" pitchFamily="34" charset="-122"/>
                <a:cs typeface="Calibri" pitchFamily="34" charset="-120"/>
              </a:rPr>
              <a:t>Solucion: APPROACH ZONE + encoder_scale</a:t>
            </a:r>
            <a:endParaRPr lang="en-US" sz="1100" dirty="0"/>
          </a:p>
        </p:txBody>
      </p:sp>
      <p:sp>
        <p:nvSpPr>
          <p:cNvPr id="14" name="Shape 10"/>
          <p:cNvSpPr/>
          <p:nvPr/>
        </p:nvSpPr>
        <p:spPr>
          <a:xfrm>
            <a:off x="502920" y="2926080"/>
            <a:ext cx="4023360" cy="1417320"/>
          </a:xfrm>
          <a:prstGeom prst="rect">
            <a:avLst/>
          </a:prstGeom>
          <a:solidFill>
            <a:srgbClr val="0F2438"/>
          </a:solidFill>
          <a:ln w="12700">
            <a:solidFill>
              <a:srgbClr val="0F2438"/>
            </a:solidFill>
            <a:prstDash val="solid"/>
          </a:ln>
        </p:spPr>
      </p:sp>
      <p:sp>
        <p:nvSpPr>
          <p:cNvPr id="15" name="Text 11"/>
          <p:cNvSpPr/>
          <p:nvPr/>
        </p:nvSpPr>
        <p:spPr>
          <a:xfrm>
            <a:off x="640080" y="3017520"/>
            <a:ext cx="3749040" cy="1234440"/>
          </a:xfrm>
          <a:prstGeom prst="rect">
            <a:avLst/>
          </a:prstGeom>
          <a:noFill/>
          <a:ln/>
        </p:spPr>
        <p:txBody>
          <a:bodyPr wrap="square" lIns="0" tIns="0" rIns="0" bIns="0" rtlCol="0" anchor="t"/>
          <a:lstStyle/>
          <a:p>
            <a:pPr indent="0" marL="0">
              <a:buNone/>
            </a:pPr>
            <a:r>
              <a:rPr lang="en-US" sz="950" dirty="0">
                <a:solidFill>
                  <a:srgbClr val="E2E8F0"/>
                </a:solidFill>
                <a:latin typeface="Consolas" pitchFamily="34" charset="0"/>
                <a:ea typeface="Consolas" pitchFamily="34" charset="-122"/>
                <a:cs typeface="Consolas" pitchFamily="34" charset="-120"/>
              </a:rPr>
              <a:t># slew rate aplicado dentro de _publish_cmd:</a:t>
            </a:r>
            <a:endParaRPr lang="en-US" sz="950" dirty="0"/>
          </a:p>
          <a:p>
            <a:pPr indent="0" marL="0">
              <a:buNone/>
            </a:pPr>
            <a:r>
              <a:rPr lang="en-US" sz="950" dirty="0">
                <a:solidFill>
                  <a:srgbClr val="E2E8F0"/>
                </a:solidFill>
                <a:latin typeface="Consolas" pitchFamily="34" charset="0"/>
                <a:ea typeface="Consolas" pitchFamily="34" charset="-122"/>
                <a:cs typeface="Consolas" pitchFamily="34" charset="-120"/>
              </a:rPr>
              <a:t>max_dv = self.v_slew * dt   # 0.18 m/s^2 -&gt; rampa suave</a:t>
            </a:r>
            <a:endParaRPr lang="en-US" sz="950" dirty="0"/>
          </a:p>
          <a:p>
            <a:pPr indent="0" marL="0">
              <a:buNone/>
            </a:pPr>
            <a:r>
              <a:rPr lang="en-US" sz="950" dirty="0">
                <a:solidFill>
                  <a:srgbClr val="E2E8F0"/>
                </a:solidFill>
                <a:latin typeface="Consolas" pitchFamily="34" charset="0"/>
                <a:ea typeface="Consolas" pitchFamily="34" charset="-122"/>
                <a:cs typeface="Consolas" pitchFamily="34" charset="-120"/>
              </a:rPr>
              <a:t>max_dw = self.w_slew * dt   # 0.8  rad/s^2</a:t>
            </a:r>
            <a:endParaRPr lang="en-US" sz="950" dirty="0"/>
          </a:p>
          <a:p>
            <a:pPr indent="0" marL="0">
              <a:buNone/>
            </a:pPr>
            <a:r>
              <a:rPr lang="en-US" sz="950" dirty="0">
                <a:solidFill>
                  <a:srgbClr val="E2E8F0"/>
                </a:solidFill>
                <a:latin typeface="Consolas" pitchFamily="34" charset="0"/>
                <a:ea typeface="Consolas" pitchFamily="34" charset="-122"/>
                <a:cs typeface="Consolas" pitchFamily="34" charset="-120"/>
              </a:rPr>
              <a:t>v = clip(v_sat, last_v - max_dv, last_v + max_dv)</a:t>
            </a:r>
            <a:endParaRPr lang="en-US" sz="950" dirty="0"/>
          </a:p>
          <a:p>
            <a:pPr indent="0" marL="0">
              <a:buNone/>
            </a:pPr>
            <a:r>
              <a:rPr lang="en-US" sz="950" dirty="0">
                <a:solidFill>
                  <a:srgbClr val="E2E8F0"/>
                </a:solidFill>
                <a:latin typeface="Consolas" pitchFamily="34" charset="0"/>
                <a:ea typeface="Consolas" pitchFamily="34" charset="-122"/>
                <a:cs typeface="Consolas" pitchFamily="34" charset="-120"/>
              </a:rPr>
              <a:t>w = clip(w_sat, last_w - max_dw, last_w + max_dw)</a:t>
            </a:r>
            <a:endParaRPr lang="en-US" sz="950" dirty="0"/>
          </a:p>
        </p:txBody>
      </p:sp>
      <p:sp>
        <p:nvSpPr>
          <p:cNvPr id="16" name="Shape 12"/>
          <p:cNvSpPr/>
          <p:nvPr/>
        </p:nvSpPr>
        <p:spPr>
          <a:xfrm>
            <a:off x="4617720" y="2926080"/>
            <a:ext cx="4023360" cy="1417320"/>
          </a:xfrm>
          <a:prstGeom prst="rect">
            <a:avLst/>
          </a:prstGeom>
          <a:solidFill>
            <a:srgbClr val="0F2438"/>
          </a:solidFill>
          <a:ln w="12700">
            <a:solidFill>
              <a:srgbClr val="0F2438"/>
            </a:solidFill>
            <a:prstDash val="solid"/>
          </a:ln>
        </p:spPr>
      </p:sp>
      <p:sp>
        <p:nvSpPr>
          <p:cNvPr id="17" name="Text 13"/>
          <p:cNvSpPr/>
          <p:nvPr/>
        </p:nvSpPr>
        <p:spPr>
          <a:xfrm>
            <a:off x="4754880" y="3017520"/>
            <a:ext cx="3749040" cy="1234440"/>
          </a:xfrm>
          <a:prstGeom prst="rect">
            <a:avLst/>
          </a:prstGeom>
          <a:noFill/>
          <a:ln/>
        </p:spPr>
        <p:txBody>
          <a:bodyPr wrap="square" lIns="0" tIns="0" rIns="0" bIns="0" rtlCol="0" anchor="t"/>
          <a:lstStyle/>
          <a:p>
            <a:pPr indent="0" marL="0">
              <a:buNone/>
            </a:pPr>
            <a:r>
              <a:rPr lang="en-US" sz="950" dirty="0">
                <a:solidFill>
                  <a:srgbClr val="E2E8F0"/>
                </a:solidFill>
                <a:latin typeface="Consolas" pitchFamily="34" charset="0"/>
                <a:ea typeface="Consolas" pitchFamily="34" charset="-122"/>
                <a:cs typeface="Consolas" pitchFamily="34" charset="-120"/>
              </a:rPr>
              <a:t># approach zone en _apply_approach_slowdown:</a:t>
            </a:r>
            <a:endParaRPr lang="en-US" sz="950" dirty="0"/>
          </a:p>
          <a:p>
            <a:pPr indent="0" marL="0">
              <a:buNone/>
            </a:pPr>
            <a:r>
              <a:rPr lang="en-US" sz="950" dirty="0">
                <a:solidFill>
                  <a:srgbClr val="E2E8F0"/>
                </a:solidFill>
                <a:latin typeface="Consolas" pitchFamily="34" charset="0"/>
                <a:ea typeface="Consolas" pitchFamily="34" charset="-122"/>
                <a:cs typeface="Consolas" pitchFamily="34" charset="-120"/>
              </a:rPr>
              <a:t>if dist &lt; approach_zone:               # 0.25 m</a:t>
            </a:r>
            <a:endParaRPr lang="en-US" sz="950" dirty="0"/>
          </a:p>
          <a:p>
            <a:pPr indent="0" marL="0">
              <a:buNone/>
            </a:pPr>
            <a:r>
              <a:rPr lang="en-US" sz="950" dirty="0">
                <a:solidFill>
                  <a:srgbClr val="E2E8F0"/>
                </a:solidFill>
                <a:latin typeface="Consolas" pitchFamily="34" charset="0"/>
                <a:ea typeface="Consolas" pitchFamily="34" charset="-122"/>
                <a:cs typeface="Consolas" pitchFamily="34" charset="-120"/>
              </a:rPr>
              <a:t>    scale = max(min_scale, dist / approach_zone)</a:t>
            </a:r>
            <a:endParaRPr lang="en-US" sz="950" dirty="0"/>
          </a:p>
          <a:p>
            <a:pPr indent="0" marL="0">
              <a:buNone/>
            </a:pPr>
            <a:r>
              <a:rPr lang="en-US" sz="950" dirty="0">
                <a:solidFill>
                  <a:srgbClr val="E2E8F0"/>
                </a:solidFill>
                <a:latin typeface="Consolas" pitchFamily="34" charset="0"/>
                <a:ea typeface="Consolas" pitchFamily="34" charset="-122"/>
                <a:cs typeface="Consolas" pitchFamily="34" charset="-120"/>
              </a:rPr>
              <a:t>    v_cap = v_max * scale</a:t>
            </a:r>
            <a:endParaRPr lang="en-US" sz="950" dirty="0"/>
          </a:p>
          <a:p>
            <a:pPr indent="0" marL="0">
              <a:buNone/>
            </a:pPr>
            <a:r>
              <a:rPr lang="en-US" sz="950" dirty="0">
                <a:solidFill>
                  <a:srgbClr val="E2E8F0"/>
                </a:solidFill>
                <a:latin typeface="Consolas" pitchFamily="34" charset="0"/>
                <a:ea typeface="Consolas" pitchFamily="34" charset="-122"/>
                <a:cs typeface="Consolas" pitchFamily="34" charset="-120"/>
              </a:rPr>
              <a:t>    v_cmd = sign * min(|v_cmd|, v_cap)</a:t>
            </a:r>
            <a:endParaRPr lang="en-US" sz="950" dirty="0"/>
          </a:p>
        </p:txBody>
      </p:sp>
      <p:sp>
        <p:nvSpPr>
          <p:cNvPr id="18" name="Text 14"/>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Equipo 1 - REPO    |    Mini Challenge 3 - PuzzleBot</a:t>
            </a:r>
            <a:endParaRPr lang="en-US" sz="900" dirty="0"/>
          </a:p>
        </p:txBody>
      </p:sp>
      <p:sp>
        <p:nvSpPr>
          <p:cNvPr id="19" name="Text 15"/>
          <p:cNvSpPr/>
          <p:nvPr/>
        </p:nvSpPr>
        <p:spPr>
          <a:xfrm>
            <a:off x="8412480" y="4846320"/>
            <a:ext cx="36576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4864" cy="502920"/>
          </a:xfrm>
          <a:prstGeom prst="rect">
            <a:avLst/>
          </a:prstGeom>
          <a:solidFill>
            <a:srgbClr val="00B4D8"/>
          </a:solidFill>
          <a:ln w="12700">
            <a:solidFill>
              <a:srgbClr val="00B4D8"/>
            </a:solidFill>
            <a:prstDash val="solid"/>
          </a:ln>
        </p:spPr>
      </p:sp>
      <p:sp>
        <p:nvSpPr>
          <p:cNvPr id="3" name="Text 1"/>
          <p:cNvSpPr/>
          <p:nvPr/>
        </p:nvSpPr>
        <p:spPr>
          <a:xfrm>
            <a:off x="640080" y="320040"/>
            <a:ext cx="8229600" cy="640080"/>
          </a:xfrm>
          <a:prstGeom prst="rect">
            <a:avLst/>
          </a:prstGeom>
          <a:noFill/>
          <a:ln/>
        </p:spPr>
        <p:txBody>
          <a:bodyPr wrap="square" lIns="0" tIns="0" rIns="0" bIns="0" rtlCol="0" anchor="ctr"/>
          <a:lstStyle/>
          <a:p>
            <a:pPr indent="0" marL="0">
              <a:buNone/>
            </a:pPr>
            <a:r>
              <a:rPr lang="en-US" sz="2600" b="1" dirty="0">
                <a:solidFill>
                  <a:srgbClr val="1A2332"/>
                </a:solidFill>
                <a:latin typeface="Calibri" pitchFamily="34" charset="0"/>
                <a:ea typeface="Calibri" pitchFamily="34" charset="-122"/>
                <a:cs typeface="Calibri" pitchFamily="34" charset="-120"/>
              </a:rPr>
              <a:t>Calibracion fina y valores finales</a:t>
            </a:r>
            <a:endParaRPr lang="en-US" sz="2600" dirty="0"/>
          </a:p>
        </p:txBody>
      </p:sp>
      <p:sp>
        <p:nvSpPr>
          <p:cNvPr id="4" name="Text 2"/>
          <p:cNvSpPr/>
          <p:nvPr/>
        </p:nvSpPr>
        <p:spPr>
          <a:xfrm>
            <a:off x="502920" y="1005840"/>
            <a:ext cx="8229600" cy="274320"/>
          </a:xfrm>
          <a:prstGeom prst="rect">
            <a:avLst/>
          </a:prstGeom>
          <a:noFill/>
          <a:ln/>
        </p:spPr>
        <p:txBody>
          <a:bodyPr wrap="square" lIns="0" tIns="0" rIns="0" bIns="0" rtlCol="0" anchor="ctr"/>
          <a:lstStyle/>
          <a:p>
            <a:pPr indent="0" marL="0">
              <a:buNone/>
            </a:pPr>
            <a:r>
              <a:rPr lang="en-US" sz="1200" i="1" dirty="0">
                <a:solidFill>
                  <a:srgbClr val="6B7785"/>
                </a:solidFill>
                <a:latin typeface="Calibri" pitchFamily="34" charset="0"/>
                <a:ea typeface="Calibri" pitchFamily="34" charset="-122"/>
                <a:cs typeface="Calibri" pitchFamily="34" charset="-120"/>
              </a:rPr>
              <a:t>Tras el primer run, los valores se ajustaron empiricamente para corregir overshoot y prevenir resets.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8229600" cy="914400"/>
        </p:xfrm>
        <a:graphic>
          <a:graphicData uri="http://schemas.openxmlformats.org/drawingml/2006/table">
            <a:tbl>
              <a:tblPr/>
              <a:tblGrid>
                <a:gridCol w="1828800"/>
                <a:gridCol w="1097280"/>
                <a:gridCol w="1097280"/>
                <a:gridCol w="4206240"/>
              </a:tblGrid>
              <a:tr h="31089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Parametro</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0A1F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Inicial</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0A1F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Final</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0A1F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Razon del ajuste</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0A1F3D"/>
                    </a:solidFill>
                  </a:tcPr>
                </a:tc>
              </a:tr>
              <a:tr h="310896">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v_max</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0.08</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0.20</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Movimiento mas agil tras estabilizar el lazo</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310896">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omega_max</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0.6</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0.45</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Reducir picos de corriente en giros</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310896">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v_slew_rate</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0.15</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0.18</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Rampa ligeramente mas rapida sin resets</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310896">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w_slew_rate</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0.8</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Suavizar arranques angulares (criticos)</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310896">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approach_zone</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0.30</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0.25</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Zona de frenado ajustada al overshoot real</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310896">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min_scale</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0.25</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0.20</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Velocidad final mas baja al llegar</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310896">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hold_time</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0.3 s</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0.0 s</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Llegada inmediata, evita correcciones tardias</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310896">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encoder_scale</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l" indent="0" marL="0">
                        <a:buNone/>
                      </a:pPr>
                      <a:r>
                        <a:rPr lang="en-US" sz="1050" dirty="0">
                          <a:solidFill>
                            <a:srgbClr val="1A2332"/>
                          </a:solidFill>
                          <a:latin typeface="Calibri" pitchFamily="34" charset="0"/>
                          <a:ea typeface="Calibri" pitchFamily="34" charset="-122"/>
                          <a:cs typeface="Calibri" pitchFamily="34" charset="-120"/>
                        </a:rPr>
                        <a:t>Compensa subestimacion del 10% en odometria</a:t>
                      </a:r>
                      <a:endParaRPr lang="en-US" sz="1050" dirty="0">
                        <a:latin typeface="Calibri" charset="0"/>
                        <a:ea typeface="Calibri" charset="0"/>
                        <a:cs typeface="Calibri" charset="0"/>
                      </a:endParaRPr>
                    </a:p>
                  </a:txBody>
                  <a:tcPr marL="91440" marR="91440" marT="45720" marB="45720"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bl>
          </a:graphicData>
        </a:graphic>
      </p:graphicFrame>
      <p:sp>
        <p:nvSpPr>
          <p:cNvPr id="6" name="Text 3"/>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Equipo 1 - REPO    |    Mini Challenge 3 - PuzzleBot</a:t>
            </a:r>
            <a:endParaRPr lang="en-US" sz="900" dirty="0"/>
          </a:p>
        </p:txBody>
      </p:sp>
      <p:sp>
        <p:nvSpPr>
          <p:cNvPr id="7" name="Text 4"/>
          <p:cNvSpPr/>
          <p:nvPr/>
        </p:nvSpPr>
        <p:spPr>
          <a:xfrm>
            <a:off x="8412480" y="4846320"/>
            <a:ext cx="36576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4864" cy="502920"/>
          </a:xfrm>
          <a:prstGeom prst="rect">
            <a:avLst/>
          </a:prstGeom>
          <a:solidFill>
            <a:srgbClr val="00B4D8"/>
          </a:solidFill>
          <a:ln w="12700">
            <a:solidFill>
              <a:srgbClr val="00B4D8"/>
            </a:solidFill>
            <a:prstDash val="solid"/>
          </a:ln>
        </p:spPr>
      </p:sp>
      <p:sp>
        <p:nvSpPr>
          <p:cNvPr id="3" name="Text 1"/>
          <p:cNvSpPr/>
          <p:nvPr/>
        </p:nvSpPr>
        <p:spPr>
          <a:xfrm>
            <a:off x="640080" y="320040"/>
            <a:ext cx="8229600" cy="640080"/>
          </a:xfrm>
          <a:prstGeom prst="rect">
            <a:avLst/>
          </a:prstGeom>
          <a:noFill/>
          <a:ln/>
        </p:spPr>
        <p:txBody>
          <a:bodyPr wrap="square" lIns="0" tIns="0" rIns="0" bIns="0" rtlCol="0" anchor="ctr"/>
          <a:lstStyle/>
          <a:p>
            <a:pPr indent="0" marL="0">
              <a:buNone/>
            </a:pPr>
            <a:r>
              <a:rPr lang="en-US" sz="2600" b="1" dirty="0">
                <a:solidFill>
                  <a:srgbClr val="1A2332"/>
                </a:solidFill>
                <a:latin typeface="Calibri" pitchFamily="34" charset="0"/>
                <a:ea typeface="Calibri" pitchFamily="34" charset="-122"/>
                <a:cs typeface="Calibri" pitchFamily="34" charset="-120"/>
              </a:rPr>
              <a:t>Parte 1: cuadrado de 2 m</a:t>
            </a:r>
            <a:endParaRPr lang="en-US" sz="2600" dirty="0"/>
          </a:p>
        </p:txBody>
      </p:sp>
      <p:sp>
        <p:nvSpPr>
          <p:cNvPr id="4" name="Shape 2"/>
          <p:cNvSpPr/>
          <p:nvPr/>
        </p:nvSpPr>
        <p:spPr>
          <a:xfrm>
            <a:off x="502920" y="1051560"/>
            <a:ext cx="1783080" cy="1188720"/>
          </a:xfrm>
          <a:prstGeom prst="rect">
            <a:avLst/>
          </a:prstGeom>
          <a:solidFill>
            <a:srgbClr val="F4F7FA"/>
          </a:solidFill>
          <a:ln w="9525">
            <a:solidFill>
              <a:srgbClr val="E5E9EE"/>
            </a:solidFill>
            <a:prstDash val="solid"/>
          </a:ln>
        </p:spPr>
      </p:sp>
      <p:sp>
        <p:nvSpPr>
          <p:cNvPr id="5" name="Text 3"/>
          <p:cNvSpPr/>
          <p:nvPr/>
        </p:nvSpPr>
        <p:spPr>
          <a:xfrm>
            <a:off x="502920" y="1143000"/>
            <a:ext cx="1783080" cy="594360"/>
          </a:xfrm>
          <a:prstGeom prst="rect">
            <a:avLst/>
          </a:prstGeom>
          <a:noFill/>
          <a:ln/>
        </p:spPr>
        <p:txBody>
          <a:bodyPr wrap="square" lIns="0" tIns="0" rIns="0" bIns="0" rtlCol="0" anchor="ctr"/>
          <a:lstStyle/>
          <a:p>
            <a:pPr algn="ctr" indent="0" marL="0">
              <a:buNone/>
            </a:pPr>
            <a:r>
              <a:rPr lang="en-US" sz="2800" b="1" dirty="0">
                <a:solidFill>
                  <a:srgbClr val="0077B6"/>
                </a:solidFill>
                <a:latin typeface="Calibri" pitchFamily="34" charset="0"/>
                <a:ea typeface="Calibri" pitchFamily="34" charset="-122"/>
                <a:cs typeface="Calibri" pitchFamily="34" charset="-120"/>
              </a:rPr>
              <a:t>2.0 m</a:t>
            </a:r>
            <a:endParaRPr lang="en-US" sz="2800" dirty="0"/>
          </a:p>
        </p:txBody>
      </p:sp>
      <p:sp>
        <p:nvSpPr>
          <p:cNvPr id="6" name="Text 4"/>
          <p:cNvSpPr/>
          <p:nvPr/>
        </p:nvSpPr>
        <p:spPr>
          <a:xfrm>
            <a:off x="502920" y="1783080"/>
            <a:ext cx="1783080" cy="365760"/>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Lado del cuadrado</a:t>
            </a:r>
            <a:endParaRPr lang="en-US" sz="1000" dirty="0"/>
          </a:p>
        </p:txBody>
      </p:sp>
      <p:sp>
        <p:nvSpPr>
          <p:cNvPr id="7" name="Shape 5"/>
          <p:cNvSpPr/>
          <p:nvPr/>
        </p:nvSpPr>
        <p:spPr>
          <a:xfrm>
            <a:off x="2788920" y="1051560"/>
            <a:ext cx="1783080" cy="1188720"/>
          </a:xfrm>
          <a:prstGeom prst="rect">
            <a:avLst/>
          </a:prstGeom>
          <a:solidFill>
            <a:srgbClr val="F4F7FA"/>
          </a:solidFill>
          <a:ln w="9525">
            <a:solidFill>
              <a:srgbClr val="E5E9EE"/>
            </a:solidFill>
            <a:prstDash val="solid"/>
          </a:ln>
        </p:spPr>
      </p:sp>
      <p:sp>
        <p:nvSpPr>
          <p:cNvPr id="8" name="Text 6"/>
          <p:cNvSpPr/>
          <p:nvPr/>
        </p:nvSpPr>
        <p:spPr>
          <a:xfrm>
            <a:off x="2788920" y="1143000"/>
            <a:ext cx="1783080" cy="594360"/>
          </a:xfrm>
          <a:prstGeom prst="rect">
            <a:avLst/>
          </a:prstGeom>
          <a:noFill/>
          <a:ln/>
        </p:spPr>
        <p:txBody>
          <a:bodyPr wrap="square" lIns="0" tIns="0" rIns="0" bIns="0" rtlCol="0" anchor="ctr"/>
          <a:lstStyle/>
          <a:p>
            <a:pPr algn="ctr" indent="0" marL="0">
              <a:buNone/>
            </a:pPr>
            <a:r>
              <a:rPr lang="en-US" sz="2800" b="1" dirty="0">
                <a:solidFill>
                  <a:srgbClr val="0077B6"/>
                </a:solidFill>
                <a:latin typeface="Calibri" pitchFamily="34" charset="0"/>
                <a:ea typeface="Calibri" pitchFamily="34" charset="-122"/>
                <a:cs typeface="Calibri" pitchFamily="34" charset="-120"/>
              </a:rPr>
              <a:t>0.20 m/s</a:t>
            </a:r>
            <a:endParaRPr lang="en-US" sz="2800" dirty="0"/>
          </a:p>
        </p:txBody>
      </p:sp>
      <p:sp>
        <p:nvSpPr>
          <p:cNvPr id="9" name="Text 7"/>
          <p:cNvSpPr/>
          <p:nvPr/>
        </p:nvSpPr>
        <p:spPr>
          <a:xfrm>
            <a:off x="2788920" y="1783080"/>
            <a:ext cx="1783080" cy="365760"/>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Velocidad lineal max</a:t>
            </a:r>
            <a:endParaRPr lang="en-US" sz="1000" dirty="0"/>
          </a:p>
        </p:txBody>
      </p:sp>
      <p:sp>
        <p:nvSpPr>
          <p:cNvPr id="10" name="Shape 8"/>
          <p:cNvSpPr/>
          <p:nvPr/>
        </p:nvSpPr>
        <p:spPr>
          <a:xfrm>
            <a:off x="5074920" y="1051560"/>
            <a:ext cx="1783080" cy="1188720"/>
          </a:xfrm>
          <a:prstGeom prst="rect">
            <a:avLst/>
          </a:prstGeom>
          <a:solidFill>
            <a:srgbClr val="F4F7FA"/>
          </a:solidFill>
          <a:ln w="9525">
            <a:solidFill>
              <a:srgbClr val="E5E9EE"/>
            </a:solidFill>
            <a:prstDash val="solid"/>
          </a:ln>
        </p:spPr>
      </p:sp>
      <p:sp>
        <p:nvSpPr>
          <p:cNvPr id="11" name="Text 9"/>
          <p:cNvSpPr/>
          <p:nvPr/>
        </p:nvSpPr>
        <p:spPr>
          <a:xfrm>
            <a:off x="5074920" y="1143000"/>
            <a:ext cx="1783080" cy="594360"/>
          </a:xfrm>
          <a:prstGeom prst="rect">
            <a:avLst/>
          </a:prstGeom>
          <a:noFill/>
          <a:ln/>
        </p:spPr>
        <p:txBody>
          <a:bodyPr wrap="square" lIns="0" tIns="0" rIns="0" bIns="0" rtlCol="0" anchor="ctr"/>
          <a:lstStyle/>
          <a:p>
            <a:pPr algn="ctr" indent="0" marL="0">
              <a:buNone/>
            </a:pPr>
            <a:r>
              <a:rPr lang="en-US" sz="2800" b="1" dirty="0">
                <a:solidFill>
                  <a:srgbClr val="0077B6"/>
                </a:solidFill>
                <a:latin typeface="Calibri" pitchFamily="34" charset="0"/>
                <a:ea typeface="Calibri" pitchFamily="34" charset="-122"/>
                <a:cs typeface="Calibri" pitchFamily="34" charset="-120"/>
              </a:rPr>
              <a:t>5 cm</a:t>
            </a:r>
            <a:endParaRPr lang="en-US" sz="2800" dirty="0"/>
          </a:p>
        </p:txBody>
      </p:sp>
      <p:sp>
        <p:nvSpPr>
          <p:cNvPr id="12" name="Text 10"/>
          <p:cNvSpPr/>
          <p:nvPr/>
        </p:nvSpPr>
        <p:spPr>
          <a:xfrm>
            <a:off x="5074920" y="1783080"/>
            <a:ext cx="1783080" cy="365760"/>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Tolerancia de pos.</a:t>
            </a:r>
            <a:endParaRPr lang="en-US" sz="1000" dirty="0"/>
          </a:p>
        </p:txBody>
      </p:sp>
      <p:sp>
        <p:nvSpPr>
          <p:cNvPr id="13" name="Shape 11"/>
          <p:cNvSpPr/>
          <p:nvPr/>
        </p:nvSpPr>
        <p:spPr>
          <a:xfrm>
            <a:off x="7360920" y="1051560"/>
            <a:ext cx="1783080" cy="1188720"/>
          </a:xfrm>
          <a:prstGeom prst="rect">
            <a:avLst/>
          </a:prstGeom>
          <a:solidFill>
            <a:srgbClr val="F4F7FA"/>
          </a:solidFill>
          <a:ln w="9525">
            <a:solidFill>
              <a:srgbClr val="E5E9EE"/>
            </a:solidFill>
            <a:prstDash val="solid"/>
          </a:ln>
        </p:spPr>
      </p:sp>
      <p:sp>
        <p:nvSpPr>
          <p:cNvPr id="14" name="Text 12"/>
          <p:cNvSpPr/>
          <p:nvPr/>
        </p:nvSpPr>
        <p:spPr>
          <a:xfrm>
            <a:off x="7360920" y="1143000"/>
            <a:ext cx="1783080" cy="594360"/>
          </a:xfrm>
          <a:prstGeom prst="rect">
            <a:avLst/>
          </a:prstGeom>
          <a:noFill/>
          <a:ln/>
        </p:spPr>
        <p:txBody>
          <a:bodyPr wrap="square" lIns="0" tIns="0" rIns="0" bIns="0" rtlCol="0" anchor="ctr"/>
          <a:lstStyle/>
          <a:p>
            <a:pPr algn="ctr" indent="0" marL="0">
              <a:buNone/>
            </a:pPr>
            <a:r>
              <a:rPr lang="en-US" sz="2800" b="1" dirty="0">
                <a:solidFill>
                  <a:srgbClr val="0077B6"/>
                </a:solidFill>
                <a:latin typeface="Calibri" pitchFamily="34" charset="0"/>
                <a:ea typeface="Calibri" pitchFamily="34" charset="-122"/>
                <a:cs typeface="Calibri" pitchFamily="34" charset="-120"/>
              </a:rPr>
              <a:t>4 / 4</a:t>
            </a:r>
            <a:endParaRPr lang="en-US" sz="2800" dirty="0"/>
          </a:p>
        </p:txBody>
      </p:sp>
      <p:sp>
        <p:nvSpPr>
          <p:cNvPr id="15" name="Text 13"/>
          <p:cNvSpPr/>
          <p:nvPr/>
        </p:nvSpPr>
        <p:spPr>
          <a:xfrm>
            <a:off x="7360920" y="1783080"/>
            <a:ext cx="1783080" cy="365760"/>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Goals validados</a:t>
            </a:r>
            <a:endParaRPr lang="en-US" sz="1000" dirty="0"/>
          </a:p>
        </p:txBody>
      </p:sp>
      <p:sp>
        <p:nvSpPr>
          <p:cNvPr id="16" name="Text 14"/>
          <p:cNvSpPr/>
          <p:nvPr/>
        </p:nvSpPr>
        <p:spPr>
          <a:xfrm>
            <a:off x="502920" y="2423160"/>
            <a:ext cx="8229600" cy="27432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Comportamiento observado:</a:t>
            </a:r>
            <a:endParaRPr lang="en-US" sz="1300" dirty="0"/>
          </a:p>
        </p:txBody>
      </p:sp>
      <p:sp>
        <p:nvSpPr>
          <p:cNvPr id="17" name="Text 15"/>
          <p:cNvSpPr/>
          <p:nvPr/>
        </p:nvSpPr>
        <p:spPr>
          <a:xfrm>
            <a:off x="594360" y="2743200"/>
            <a:ext cx="8229600" cy="19202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A2332"/>
                </a:solidFill>
                <a:latin typeface="Calibri" pitchFamily="34" charset="0"/>
                <a:ea typeface="Calibri" pitchFamily="34" charset="-122"/>
                <a:cs typeface="Calibri" pitchFamily="34" charset="-120"/>
              </a:rPr>
              <a:t>El robot completo el perimetro completo en los dos modos de control.</a:t>
            </a:r>
            <a:endParaRPr lang="en-US" sz="1100" dirty="0"/>
          </a:p>
          <a:p>
            <a:pPr marL="342900" indent="-342900">
              <a:spcAft>
                <a:spcPts val="400"/>
              </a:spcAft>
              <a:buSzPct val="100000"/>
              <a:buChar char="•"/>
            </a:pPr>
            <a:r>
              <a:rPr lang="en-US" sz="1100" dirty="0">
                <a:solidFill>
                  <a:srgbClr val="1A2332"/>
                </a:solidFill>
                <a:latin typeface="Calibri" pitchFamily="34" charset="0"/>
                <a:ea typeface="Calibri" pitchFamily="34" charset="-122"/>
                <a:cs typeface="Calibri" pitchFamily="34" charset="-120"/>
              </a:rPr>
              <a:t>Tras la calibracion, el error final por waypoint quedo dentro de la tolerancia (5 cm).</a:t>
            </a:r>
            <a:endParaRPr lang="en-US" sz="1100" dirty="0"/>
          </a:p>
          <a:p>
            <a:pPr marL="342900" indent="-342900">
              <a:spcAft>
                <a:spcPts val="400"/>
              </a:spcAft>
              <a:buSzPct val="100000"/>
              <a:buChar char="•"/>
            </a:pPr>
            <a:r>
              <a:rPr lang="en-US" sz="1100" dirty="0">
                <a:solidFill>
                  <a:srgbClr val="1A2332"/>
                </a:solidFill>
                <a:latin typeface="Calibri" pitchFamily="34" charset="0"/>
                <a:ea typeface="Calibri" pitchFamily="34" charset="-122"/>
                <a:cs typeface="Calibri" pitchFamily="34" charset="-120"/>
              </a:rPr>
              <a:t>No se presentaron resets de la Hackerboard durante los recorridos finales.</a:t>
            </a:r>
            <a:endParaRPr lang="en-US" sz="1100" dirty="0"/>
          </a:p>
          <a:p>
            <a:pPr marL="342900" indent="-342900">
              <a:spcAft>
                <a:spcPts val="400"/>
              </a:spcAft>
              <a:buSzPct val="100000"/>
              <a:buChar char="•"/>
            </a:pPr>
            <a:r>
              <a:rPr lang="en-US" sz="1100" dirty="0">
                <a:solidFill>
                  <a:srgbClr val="1A2332"/>
                </a:solidFill>
                <a:latin typeface="Calibri" pitchFamily="34" charset="0"/>
                <a:ea typeface="Calibri" pitchFamily="34" charset="-122"/>
                <a:cs typeface="Calibri" pitchFamily="34" charset="-120"/>
              </a:rPr>
              <a:t>Se observa que cada vez que se anuncia un goal alcanzado se publica el siguiente, conservando una pausa breve para que el robot se asiente.</a:t>
            </a:r>
            <a:endParaRPr lang="en-US" sz="1100" dirty="0"/>
          </a:p>
        </p:txBody>
      </p:sp>
      <p:sp>
        <p:nvSpPr>
          <p:cNvPr id="18" name="Text 16"/>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Equipo 1 - REPO    |    Mini Challenge 3 - PuzzleBot</a:t>
            </a:r>
            <a:endParaRPr lang="en-US" sz="900" dirty="0"/>
          </a:p>
        </p:txBody>
      </p:sp>
      <p:sp>
        <p:nvSpPr>
          <p:cNvPr id="19" name="Text 17"/>
          <p:cNvSpPr/>
          <p:nvPr/>
        </p:nvSpPr>
        <p:spPr>
          <a:xfrm>
            <a:off x="8412480" y="4846320"/>
            <a:ext cx="36576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4864" cy="502920"/>
          </a:xfrm>
          <a:prstGeom prst="rect">
            <a:avLst/>
          </a:prstGeom>
          <a:solidFill>
            <a:srgbClr val="00B4D8"/>
          </a:solidFill>
          <a:ln w="12700">
            <a:solidFill>
              <a:srgbClr val="00B4D8"/>
            </a:solidFill>
            <a:prstDash val="solid"/>
          </a:ln>
        </p:spPr>
      </p:sp>
      <p:sp>
        <p:nvSpPr>
          <p:cNvPr id="3" name="Text 1"/>
          <p:cNvSpPr/>
          <p:nvPr/>
        </p:nvSpPr>
        <p:spPr>
          <a:xfrm>
            <a:off x="640080" y="320040"/>
            <a:ext cx="8229600" cy="640080"/>
          </a:xfrm>
          <a:prstGeom prst="rect">
            <a:avLst/>
          </a:prstGeom>
          <a:noFill/>
          <a:ln/>
        </p:spPr>
        <p:txBody>
          <a:bodyPr wrap="square" lIns="0" tIns="0" rIns="0" bIns="0" rtlCol="0" anchor="ctr"/>
          <a:lstStyle/>
          <a:p>
            <a:pPr indent="0" marL="0">
              <a:buNone/>
            </a:pPr>
            <a:r>
              <a:rPr lang="en-US" sz="2600" b="1" dirty="0">
                <a:solidFill>
                  <a:srgbClr val="1A2332"/>
                </a:solidFill>
                <a:latin typeface="Calibri" pitchFamily="34" charset="0"/>
                <a:ea typeface="Calibri" pitchFamily="34" charset="-122"/>
                <a:cs typeface="Calibri" pitchFamily="34" charset="-120"/>
              </a:rPr>
              <a:t>Parte 2: waypoints + comparativa de modos</a:t>
            </a:r>
            <a:endParaRPr lang="en-US" sz="2600" dirty="0"/>
          </a:p>
        </p:txBody>
      </p:sp>
      <p:sp>
        <p:nvSpPr>
          <p:cNvPr id="4" name="Shape 2"/>
          <p:cNvSpPr/>
          <p:nvPr/>
        </p:nvSpPr>
        <p:spPr>
          <a:xfrm>
            <a:off x="502920" y="1005840"/>
            <a:ext cx="4023360" cy="1691640"/>
          </a:xfrm>
          <a:prstGeom prst="rect">
            <a:avLst/>
          </a:prstGeom>
          <a:solidFill>
            <a:srgbClr val="F4F7FA"/>
          </a:solidFill>
          <a:ln w="9525">
            <a:solidFill>
              <a:srgbClr val="E5E9EE"/>
            </a:solidFill>
            <a:prstDash val="solid"/>
          </a:ln>
        </p:spPr>
      </p:sp>
      <p:pic>
        <p:nvPicPr>
          <p:cNvPr id="5" name="Image 0" descr="preencoded.png">    </p:cNvPr>
          <p:cNvPicPr>
            <a:picLocks noChangeAspect="1"/>
          </p:cNvPicPr>
          <p:nvPr/>
        </p:nvPicPr>
        <p:blipFill>
          <a:blip r:embed="rId1"/>
          <a:stretch>
            <a:fillRect/>
          </a:stretch>
        </p:blipFill>
        <p:spPr>
          <a:xfrm>
            <a:off x="640080" y="1115568"/>
            <a:ext cx="292608" cy="292608"/>
          </a:xfrm>
          <a:prstGeom prst="rect">
            <a:avLst/>
          </a:prstGeom>
        </p:spPr>
      </p:pic>
      <p:sp>
        <p:nvSpPr>
          <p:cNvPr id="6" name="Text 3"/>
          <p:cNvSpPr/>
          <p:nvPr/>
        </p:nvSpPr>
        <p:spPr>
          <a:xfrm>
            <a:off x="1005840" y="1097280"/>
            <a:ext cx="3383280" cy="292608"/>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Trayectoria con 4 waypoints</a:t>
            </a:r>
            <a:endParaRPr lang="en-US" sz="1300" dirty="0"/>
          </a:p>
        </p:txBody>
      </p:sp>
      <p:sp>
        <p:nvSpPr>
          <p:cNvPr id="7" name="Text 4"/>
          <p:cNvSpPr/>
          <p:nvPr/>
        </p:nvSpPr>
        <p:spPr>
          <a:xfrm>
            <a:off x="685800" y="1508760"/>
            <a:ext cx="3703320" cy="1143000"/>
          </a:xfrm>
          <a:prstGeom prst="rect">
            <a:avLst/>
          </a:prstGeom>
          <a:noFill/>
          <a:ln/>
        </p:spPr>
        <p:txBody>
          <a:bodyPr wrap="square" lIns="0" tIns="0" rIns="0" bIns="0" rtlCol="0" anchor="ctr"/>
          <a:lstStyle/>
          <a:p>
            <a:pPr indent="0" marL="0">
              <a:spcAft>
                <a:spcPts val="200"/>
              </a:spcAft>
              <a:buNone/>
            </a:pPr>
            <a:r>
              <a:rPr lang="en-US" sz="1100" dirty="0">
                <a:solidFill>
                  <a:srgbClr val="1A2332"/>
                </a:solidFill>
                <a:latin typeface="Consolas" pitchFamily="34" charset="0"/>
                <a:ea typeface="Consolas" pitchFamily="34" charset="-122"/>
                <a:cs typeface="Consolas" pitchFamily="34" charset="-120"/>
              </a:rPr>
              <a:t>wp1: (0.80, 0.30)</a:t>
            </a:r>
            <a:endParaRPr lang="en-US" sz="1100" dirty="0"/>
          </a:p>
          <a:p>
            <a:pPr indent="0" marL="0">
              <a:spcAft>
                <a:spcPts val="200"/>
              </a:spcAft>
              <a:buNone/>
            </a:pPr>
            <a:r>
              <a:rPr lang="en-US" sz="1100" dirty="0">
                <a:solidFill>
                  <a:srgbClr val="1A2332"/>
                </a:solidFill>
                <a:latin typeface="Consolas" pitchFamily="34" charset="0"/>
                <a:ea typeface="Consolas" pitchFamily="34" charset="-122"/>
                <a:cs typeface="Consolas" pitchFamily="34" charset="-120"/>
              </a:rPr>
              <a:t>wp2: (1.50, 1.00)</a:t>
            </a:r>
            <a:endParaRPr lang="en-US" sz="1100" dirty="0"/>
          </a:p>
          <a:p>
            <a:pPr indent="0" marL="0">
              <a:spcAft>
                <a:spcPts val="200"/>
              </a:spcAft>
              <a:buNone/>
            </a:pPr>
            <a:r>
              <a:rPr lang="en-US" sz="1100" dirty="0">
                <a:solidFill>
                  <a:srgbClr val="1A2332"/>
                </a:solidFill>
                <a:latin typeface="Consolas" pitchFamily="34" charset="0"/>
                <a:ea typeface="Consolas" pitchFamily="34" charset="-122"/>
                <a:cs typeface="Consolas" pitchFamily="34" charset="-120"/>
              </a:rPr>
              <a:t>wp3: (0.50, 1.50)</a:t>
            </a:r>
            <a:endParaRPr lang="en-US" sz="1100" dirty="0"/>
          </a:p>
          <a:p>
            <a:pPr indent="0" marL="0">
              <a:spcAft>
                <a:spcPts val="200"/>
              </a:spcAft>
              <a:buNone/>
            </a:pPr>
            <a:r>
              <a:rPr lang="en-US" sz="1100" dirty="0">
                <a:solidFill>
                  <a:srgbClr val="1A2332"/>
                </a:solidFill>
                <a:latin typeface="Consolas" pitchFamily="34" charset="0"/>
                <a:ea typeface="Consolas" pitchFamily="34" charset="-122"/>
                <a:cs typeface="Consolas" pitchFamily="34" charset="-120"/>
              </a:rPr>
              <a:t>wp4: (0.00, 0.00)  - regreso al origen</a:t>
            </a:r>
            <a:endParaRPr lang="en-US" sz="1100" dirty="0"/>
          </a:p>
        </p:txBody>
      </p:sp>
      <p:sp>
        <p:nvSpPr>
          <p:cNvPr id="8" name="Shape 5"/>
          <p:cNvSpPr/>
          <p:nvPr/>
        </p:nvSpPr>
        <p:spPr>
          <a:xfrm>
            <a:off x="4617720" y="1005840"/>
            <a:ext cx="4023360" cy="1691640"/>
          </a:xfrm>
          <a:prstGeom prst="rect">
            <a:avLst/>
          </a:prstGeom>
          <a:solidFill>
            <a:srgbClr val="F4F7FA"/>
          </a:solidFill>
          <a:ln w="9525">
            <a:solidFill>
              <a:srgbClr val="E5E9EE"/>
            </a:solidFill>
            <a:prstDash val="solid"/>
          </a:ln>
        </p:spPr>
      </p:sp>
      <p:pic>
        <p:nvPicPr>
          <p:cNvPr id="9" name="Image 1" descr="preencoded.png">    </p:cNvPr>
          <p:cNvPicPr>
            <a:picLocks noChangeAspect="1"/>
          </p:cNvPicPr>
          <p:nvPr/>
        </p:nvPicPr>
        <p:blipFill>
          <a:blip r:embed="rId2"/>
          <a:stretch>
            <a:fillRect/>
          </a:stretch>
        </p:blipFill>
        <p:spPr>
          <a:xfrm>
            <a:off x="4754880" y="1115568"/>
            <a:ext cx="292608" cy="292608"/>
          </a:xfrm>
          <a:prstGeom prst="rect">
            <a:avLst/>
          </a:prstGeom>
        </p:spPr>
      </p:pic>
      <p:sp>
        <p:nvSpPr>
          <p:cNvPr id="10" name="Text 6"/>
          <p:cNvSpPr/>
          <p:nvPr/>
        </p:nvSpPr>
        <p:spPr>
          <a:xfrm>
            <a:off x="5120640" y="1097280"/>
            <a:ext cx="3383280" cy="292608"/>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Comparativa entre modos</a:t>
            </a:r>
            <a:endParaRPr lang="en-US" sz="1300" dirty="0"/>
          </a:p>
        </p:txBody>
      </p:sp>
      <p:sp>
        <p:nvSpPr>
          <p:cNvPr id="11" name="Text 7"/>
          <p:cNvSpPr/>
          <p:nvPr/>
        </p:nvSpPr>
        <p:spPr>
          <a:xfrm>
            <a:off x="4800600" y="1508760"/>
            <a:ext cx="3703320" cy="1188720"/>
          </a:xfrm>
          <a:prstGeom prst="rect">
            <a:avLst/>
          </a:prstGeom>
          <a:noFill/>
          <a:ln/>
        </p:spPr>
        <p:txBody>
          <a:bodyPr wrap="square" lIns="0" tIns="0" rIns="0" bIns="0" rtlCol="0" anchor="ctr"/>
          <a:lstStyle/>
          <a:p>
            <a:pPr indent="0" marL="0">
              <a:spcAft>
                <a:spcPts val="200"/>
              </a:spcAft>
              <a:buNone/>
            </a:pPr>
            <a:r>
              <a:rPr lang="en-US" sz="1100" b="1" dirty="0">
                <a:solidFill>
                  <a:srgbClr val="1A2332"/>
                </a:solidFill>
                <a:latin typeface="Calibri" pitchFamily="34" charset="0"/>
                <a:ea typeface="Calibri" pitchFamily="34" charset="-122"/>
                <a:cs typeface="Calibri" pitchFamily="34" charset="-120"/>
              </a:rPr>
              <a:t>Secuencial: </a:t>
            </a:r>
            <a:pPr indent="0" marL="0">
              <a:spcAft>
                <a:spcPts val="200"/>
              </a:spcAft>
              <a:buNone/>
            </a:pPr>
            <a:r>
              <a:rPr lang="en-US" sz="1100" dirty="0">
                <a:solidFill>
                  <a:srgbClr val="1A2332"/>
                </a:solidFill>
                <a:latin typeface="Calibri" pitchFamily="34" charset="0"/>
                <a:ea typeface="Calibri" pitchFamily="34" charset="-122"/>
                <a:cs typeface="Calibri" pitchFamily="34" charset="-120"/>
              </a:rPr>
              <a:t>mas acertado en la posicion final del waypoint.</a:t>
            </a:r>
            <a:endParaRPr lang="en-US" sz="1100" dirty="0"/>
          </a:p>
          <a:p>
            <a:pPr indent="0" marL="0">
              <a:spcAft>
                <a:spcPts val="200"/>
              </a:spcAft>
              <a:buNone/>
            </a:pPr>
            <a:r>
              <a:rPr lang="en-US" sz="1100" b="1" dirty="0">
                <a:solidFill>
                  <a:srgbClr val="1A2332"/>
                </a:solidFill>
                <a:latin typeface="Calibri" pitchFamily="34" charset="0"/>
                <a:ea typeface="Calibri" pitchFamily="34" charset="-122"/>
                <a:cs typeface="Calibri" pitchFamily="34" charset="-120"/>
              </a:rPr>
              <a:t>Simultaneo: </a:t>
            </a:r>
            <a:pPr indent="0" marL="0">
              <a:spcAft>
                <a:spcPts val="200"/>
              </a:spcAft>
              <a:buNone/>
            </a:pPr>
            <a:r>
              <a:rPr lang="en-US" sz="1100" dirty="0">
                <a:solidFill>
                  <a:srgbClr val="1A2332"/>
                </a:solidFill>
                <a:latin typeface="Calibri" pitchFamily="34" charset="0"/>
                <a:ea typeface="Calibri" pitchFamily="34" charset="-122"/>
                <a:cs typeface="Calibri" pitchFamily="34" charset="-120"/>
              </a:rPr>
              <a:t>movimiento visiblemente mas fluido.</a:t>
            </a:r>
            <a:endParaRPr lang="en-US" sz="1100" dirty="0"/>
          </a:p>
          <a:p>
            <a:pPr indent="0" marL="0">
              <a:spcAft>
                <a:spcPts val="200"/>
              </a:spcAft>
              <a:buNone/>
            </a:pPr>
            <a:r>
              <a:rPr lang="en-US" sz="1100" b="1" dirty="0">
                <a:solidFill>
                  <a:srgbClr val="1A2332"/>
                </a:solidFill>
                <a:latin typeface="Calibri" pitchFamily="34" charset="0"/>
                <a:ea typeface="Calibri" pitchFamily="34" charset="-122"/>
                <a:cs typeface="Calibri" pitchFamily="34" charset="-120"/>
              </a:rPr>
              <a:t>Ambos: </a:t>
            </a:r>
            <a:pPr indent="0" marL="0">
              <a:spcAft>
                <a:spcPts val="200"/>
              </a:spcAft>
              <a:buNone/>
            </a:pPr>
            <a:r>
              <a:rPr lang="en-US" sz="1100" dirty="0">
                <a:solidFill>
                  <a:srgbClr val="1A2332"/>
                </a:solidFill>
                <a:latin typeface="Calibri" pitchFamily="34" charset="0"/>
                <a:ea typeface="Calibri" pitchFamily="34" charset="-122"/>
                <a:cs typeface="Calibri" pitchFamily="34" charset="-120"/>
              </a:rPr>
              <a:t>completaron la trayectoria sin intervencion.</a:t>
            </a:r>
            <a:endParaRPr lang="en-US" sz="1100" dirty="0"/>
          </a:p>
        </p:txBody>
      </p:sp>
      <p:sp>
        <p:nvSpPr>
          <p:cNvPr id="12" name="Shape 8"/>
          <p:cNvSpPr/>
          <p:nvPr/>
        </p:nvSpPr>
        <p:spPr>
          <a:xfrm>
            <a:off x="502920" y="2834640"/>
            <a:ext cx="8183880" cy="1874520"/>
          </a:xfrm>
          <a:prstGeom prst="rect">
            <a:avLst/>
          </a:prstGeom>
          <a:solidFill>
            <a:srgbClr val="EFF8FB"/>
          </a:solidFill>
          <a:ln w="12700">
            <a:solidFill>
              <a:srgbClr val="06A77D"/>
            </a:solidFill>
            <a:prstDash val="solid"/>
          </a:ln>
        </p:spPr>
      </p:sp>
      <p:pic>
        <p:nvPicPr>
          <p:cNvPr id="13" name="Image 2" descr="preencoded.png">    </p:cNvPr>
          <p:cNvPicPr>
            <a:picLocks noChangeAspect="1"/>
          </p:cNvPicPr>
          <p:nvPr/>
        </p:nvPicPr>
        <p:blipFill>
          <a:blip r:embed="rId3"/>
          <a:stretch>
            <a:fillRect/>
          </a:stretch>
        </p:blipFill>
        <p:spPr>
          <a:xfrm>
            <a:off x="640080" y="2944368"/>
            <a:ext cx="292608" cy="292608"/>
          </a:xfrm>
          <a:prstGeom prst="rect">
            <a:avLst/>
          </a:prstGeom>
        </p:spPr>
      </p:pic>
      <p:sp>
        <p:nvSpPr>
          <p:cNvPr id="14" name="Text 9"/>
          <p:cNvSpPr/>
          <p:nvPr/>
        </p:nvSpPr>
        <p:spPr>
          <a:xfrm>
            <a:off x="1005840" y="2907792"/>
            <a:ext cx="6400800" cy="36576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Caso de robustez observado en vivo</a:t>
            </a:r>
            <a:endParaRPr lang="en-US" sz="1400" dirty="0"/>
          </a:p>
        </p:txBody>
      </p:sp>
      <p:sp>
        <p:nvSpPr>
          <p:cNvPr id="15" name="Text 10"/>
          <p:cNvSpPr/>
          <p:nvPr/>
        </p:nvSpPr>
        <p:spPr>
          <a:xfrm>
            <a:off x="685800" y="3337560"/>
            <a:ext cx="7955280" cy="132588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Durante una de las pruebas, una rueda se atoro momentaneamente. La rueda libre giro al robot fuera de la trayectoria. Sin embargo, el encoder de la rueda atorada nunca registro el avance esperado, por lo que el lazo cerrado seguia detectando un error de posicion. Al desatorar el robot, el sistema retomo el avance restante y se reposiciono en la trayectoria correcta sin necesidad de reiniciar la rutina.</a:t>
            </a:r>
            <a:endParaRPr lang="en-US" sz="1100" dirty="0"/>
          </a:p>
        </p:txBody>
      </p:sp>
      <p:sp>
        <p:nvSpPr>
          <p:cNvPr id="16" name="Text 11"/>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Equipo 1 - REPO    |    Mini Challenge 3 - PuzzleBot</a:t>
            </a:r>
            <a:endParaRPr lang="en-US" sz="900" dirty="0"/>
          </a:p>
        </p:txBody>
      </p:sp>
      <p:sp>
        <p:nvSpPr>
          <p:cNvPr id="17" name="Text 12"/>
          <p:cNvSpPr/>
          <p:nvPr/>
        </p:nvSpPr>
        <p:spPr>
          <a:xfrm>
            <a:off x="8412480" y="4846320"/>
            <a:ext cx="36576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F3D"/>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sp>
      <p:sp>
        <p:nvSpPr>
          <p:cNvPr id="3" name="Text 1"/>
          <p:cNvSpPr/>
          <p:nvPr/>
        </p:nvSpPr>
        <p:spPr>
          <a:xfrm>
            <a:off x="548640" y="502920"/>
            <a:ext cx="8229600" cy="457200"/>
          </a:xfrm>
          <a:prstGeom prst="rect">
            <a:avLst/>
          </a:prstGeom>
          <a:noFill/>
          <a:ln/>
        </p:spPr>
        <p:txBody>
          <a:bodyPr wrap="square" lIns="0" tIns="0" rIns="0" bIns="0" rtlCol="0" anchor="ctr"/>
          <a:lstStyle/>
          <a:p>
            <a:pPr indent="0" marL="0">
              <a:buNone/>
            </a:pPr>
            <a:r>
              <a:rPr lang="en-US" sz="1400" b="1" spc="400" kern="0" dirty="0">
                <a:solidFill>
                  <a:srgbClr val="00B4D8"/>
                </a:solidFill>
                <a:latin typeface="Calibri" pitchFamily="34" charset="0"/>
                <a:ea typeface="Calibri" pitchFamily="34" charset="-122"/>
                <a:cs typeface="Calibri" pitchFamily="34" charset="-120"/>
              </a:rPr>
              <a:t>CONCLUSIONES</a:t>
            </a:r>
            <a:endParaRPr lang="en-US" sz="1400" dirty="0"/>
          </a:p>
        </p:txBody>
      </p:sp>
      <p:sp>
        <p:nvSpPr>
          <p:cNvPr id="4" name="Text 2"/>
          <p:cNvSpPr/>
          <p:nvPr/>
        </p:nvSpPr>
        <p:spPr>
          <a:xfrm>
            <a:off x="548640" y="91440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Que se aprendio de cerrar el lazo en hardware real</a:t>
            </a:r>
            <a:endParaRPr lang="en-US" sz="2600" dirty="0"/>
          </a:p>
        </p:txBody>
      </p:sp>
      <p:sp>
        <p:nvSpPr>
          <p:cNvPr id="5" name="Text 3"/>
          <p:cNvSpPr/>
          <p:nvPr/>
        </p:nvSpPr>
        <p:spPr>
          <a:xfrm>
            <a:off x="548640" y="1828800"/>
            <a:ext cx="8229600" cy="2743200"/>
          </a:xfrm>
          <a:prstGeom prst="rect">
            <a:avLst/>
          </a:prstGeom>
          <a:noFill/>
          <a:ln/>
        </p:spPr>
        <p:txBody>
          <a:bodyPr wrap="square" lIns="0" tIns="0" rIns="0" bIns="0" rtlCol="0" anchor="ctr"/>
          <a:lstStyle/>
          <a:p>
            <a:pPr indent="0" marL="0">
              <a:spcAft>
                <a:spcPts val="800"/>
              </a:spcAft>
              <a:buNone/>
            </a:pPr>
            <a:r>
              <a:rPr lang="en-US" sz="1300" b="1" dirty="0">
                <a:solidFill>
                  <a:srgbClr val="00B4D8"/>
                </a:solidFill>
                <a:latin typeface="Calibri" pitchFamily="34" charset="0"/>
                <a:ea typeface="Calibri" pitchFamily="34" charset="-122"/>
                <a:cs typeface="Calibri" pitchFamily="34" charset="-120"/>
              </a:rPr>
              <a:t>El PID por si solo no es suficiente. </a:t>
            </a:r>
            <a:pPr indent="0" marL="0">
              <a:spcAft>
                <a:spcPts val="800"/>
              </a:spcAft>
              <a:buNone/>
            </a:pPr>
            <a:r>
              <a:rPr lang="en-US" sz="1300" dirty="0">
                <a:solidFill>
                  <a:srgbClr val="E2E8F0"/>
                </a:solidFill>
                <a:latin typeface="Calibri" pitchFamily="34" charset="0"/>
                <a:ea typeface="Calibri" pitchFamily="34" charset="-122"/>
                <a:cs typeface="Calibri" pitchFamily="34" charset="-120"/>
              </a:rPr>
              <a:t>La calidad del control depende tanto de las ganancias como de las limitaciones fisicas del actuador (slew rate, deadzone, picos de corriente).</a:t>
            </a:r>
            <a:endParaRPr lang="en-US" sz="1300" dirty="0"/>
          </a:p>
          <a:p>
            <a:pPr indent="0" marL="0">
              <a:spcAft>
                <a:spcPts val="800"/>
              </a:spcAft>
              <a:buNone/>
            </a:pPr>
            <a:r>
              <a:rPr lang="en-US" sz="1300" b="1" dirty="0">
                <a:solidFill>
                  <a:srgbClr val="00B4D8"/>
                </a:solidFill>
                <a:latin typeface="Calibri" pitchFamily="34" charset="0"/>
                <a:ea typeface="Calibri" pitchFamily="34" charset="-122"/>
                <a:cs typeface="Calibri" pitchFamily="34" charset="-120"/>
              </a:rPr>
              <a:t>La robustez se construye en capas. </a:t>
            </a:r>
            <a:pPr indent="0" marL="0">
              <a:spcAft>
                <a:spcPts val="800"/>
              </a:spcAft>
              <a:buNone/>
            </a:pPr>
            <a:r>
              <a:rPr lang="en-US" sz="1300" dirty="0">
                <a:solidFill>
                  <a:srgbClr val="E2E8F0"/>
                </a:solidFill>
                <a:latin typeface="Calibri" pitchFamily="34" charset="0"/>
                <a:ea typeface="Calibri" pitchFamily="34" charset="-122"/>
                <a:cs typeface="Calibri" pitchFamily="34" charset="-120"/>
              </a:rPr>
              <a:t>Anti-windup, filtro derivativo, slew rate y approach zone trabajan juntos para absorber perturbaciones que ningun PID idealizado contempla.</a:t>
            </a:r>
            <a:endParaRPr lang="en-US" sz="1300" dirty="0"/>
          </a:p>
          <a:p>
            <a:pPr indent="0" marL="0">
              <a:spcAft>
                <a:spcPts val="800"/>
              </a:spcAft>
              <a:buNone/>
            </a:pPr>
            <a:r>
              <a:rPr lang="en-US" sz="1300" b="1" dirty="0">
                <a:solidFill>
                  <a:srgbClr val="00B4D8"/>
                </a:solidFill>
                <a:latin typeface="Calibri" pitchFamily="34" charset="0"/>
                <a:ea typeface="Calibri" pitchFamily="34" charset="-122"/>
                <a:cs typeface="Calibri" pitchFamily="34" charset="-120"/>
              </a:rPr>
              <a:t>La calibracion empirica es indispensable. </a:t>
            </a:r>
            <a:pPr indent="0" marL="0">
              <a:spcAft>
                <a:spcPts val="800"/>
              </a:spcAft>
              <a:buNone/>
            </a:pPr>
            <a:r>
              <a:rPr lang="en-US" sz="1300" dirty="0">
                <a:solidFill>
                  <a:srgbClr val="E2E8F0"/>
                </a:solidFill>
                <a:latin typeface="Calibri" pitchFamily="34" charset="0"/>
                <a:ea typeface="Calibri" pitchFamily="34" charset="-122"/>
                <a:cs typeface="Calibri" pitchFamily="34" charset="-120"/>
              </a:rPr>
              <a:t>El factor encoder_scale = 1.1 corrigio una subestimacion del 10% en la odometria que ningun valor teorico hubiera detectado.</a:t>
            </a:r>
            <a:endParaRPr lang="en-US" sz="1300" dirty="0"/>
          </a:p>
          <a:p>
            <a:pPr indent="0" marL="0">
              <a:spcAft>
                <a:spcPts val="800"/>
              </a:spcAft>
              <a:buNone/>
            </a:pPr>
            <a:r>
              <a:rPr lang="en-US" sz="1300" b="1" dirty="0">
                <a:solidFill>
                  <a:srgbClr val="00B4D8"/>
                </a:solidFill>
                <a:latin typeface="Calibri" pitchFamily="34" charset="0"/>
                <a:ea typeface="Calibri" pitchFamily="34" charset="-122"/>
                <a:cs typeface="Calibri" pitchFamily="34" charset="-120"/>
              </a:rPr>
              <a:t>El lazo cerrado se autocorrige. </a:t>
            </a:r>
            <a:pPr indent="0" marL="0">
              <a:spcAft>
                <a:spcPts val="800"/>
              </a:spcAft>
              <a:buNone/>
            </a:pPr>
            <a:r>
              <a:rPr lang="en-US" sz="1300" dirty="0">
                <a:solidFill>
                  <a:srgbClr val="E2E8F0"/>
                </a:solidFill>
                <a:latin typeface="Calibri" pitchFamily="34" charset="0"/>
                <a:ea typeface="Calibri" pitchFamily="34" charset="-122"/>
                <a:cs typeface="Calibri" pitchFamily="34" charset="-120"/>
              </a:rPr>
              <a:t>Ante una rueda atorada, el sistema retomo la trayectoria al desbloquearse sin reiniciar nada: la prueba mas tangible del valor del feedback.</a:t>
            </a:r>
            <a:endParaRPr lang="en-US" sz="1300" dirty="0"/>
          </a:p>
        </p:txBody>
      </p:sp>
      <p:sp>
        <p:nvSpPr>
          <p:cNvPr id="6" name="Text 4"/>
          <p:cNvSpPr/>
          <p:nvPr/>
        </p:nvSpPr>
        <p:spPr>
          <a:xfrm>
            <a:off x="548640" y="4846320"/>
            <a:ext cx="8229600" cy="228600"/>
          </a:xfrm>
          <a:prstGeom prst="rect">
            <a:avLst/>
          </a:prstGeom>
          <a:noFill/>
          <a:ln/>
        </p:spPr>
        <p:txBody>
          <a:bodyPr wrap="square" lIns="0" tIns="0" rIns="0" bIns="0" rtlCol="0" anchor="ctr"/>
          <a:lstStyle/>
          <a:p>
            <a:pPr indent="0" marL="0">
              <a:buNone/>
            </a:pPr>
            <a:r>
              <a:rPr lang="en-US" sz="900" i="1" dirty="0">
                <a:solidFill>
                  <a:srgbClr val="6B7785"/>
                </a:solidFill>
                <a:latin typeface="Calibri" pitchFamily="34" charset="0"/>
                <a:ea typeface="Calibri" pitchFamily="34" charset="-122"/>
                <a:cs typeface="Calibri" pitchFamily="34" charset="-120"/>
              </a:rPr>
              <a:t>Equipo 1 - REPO  |  Mini Challenge 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MC3 PuzzleBot - Equipo 1 REPO</dc:title>
  <dc:subject>PptxGenJS Presentation</dc:subject>
  <dc:creator>Equipo 1 - REPO</dc:creator>
  <cp:lastModifiedBy>Equipo 1 - REPO</cp:lastModifiedBy>
  <cp:revision>1</cp:revision>
  <dcterms:created xsi:type="dcterms:W3CDTF">2026-04-25T04:07:43Z</dcterms:created>
  <dcterms:modified xsi:type="dcterms:W3CDTF">2026-04-25T04:07:43Z</dcterms:modified>
</cp:coreProperties>
</file>